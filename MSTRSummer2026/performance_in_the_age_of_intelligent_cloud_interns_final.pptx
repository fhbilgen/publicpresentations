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3" d="100"/>
          <a:sy n="123" d="100"/>
        </p:scale>
        <p:origin x="80"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7307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Open with a simple framing: every CPU cycle, byte of RAM, storage operation and network call has an engineering cost and an environmental cost. Performance is not only speed, it is resource discipline.
Visual on this slide was generated with Microsoft Copilot.
Source: Brand Central Azure page notes Azure provides brand guidelines, templates and creative assets: https://brandcentral.microsoft.com/content/brandcentral/us/en/microsoft-brand/products/azure.html
[Sources]
Visual on this slide was generated with Microsoft Copilot.
Source: Brand Central Azure page notes Azure provides brand guidelines, templates and creative assets: https://brandcentral.microsoft.com/content/brandcentral/us/en/microsoft-brand/products/azure.html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Connect the audience’s likely interest in AI and coding to the practical engineering discipline of performance. The sustainable workload is not a separate concept from good architecture. It is usually the visible result of efficiency.
Visual on this slide was generated with Microsoft Copilot.
Source: Azure Well-Architected Framework sustainability overview says design choices shape resource consumption and sustainability overlaps with cost optimization: https://learn.microsoft.com/en-us/azure/well-architected/sustainability/overview
Source: Azure Well-Architected Framework sustainability workload documentation lists performance efficiency areas including application efficiency, compute, network and storage footprint: https://learn.microsoft.com/en-us/azure/well-architected/sustainability/
[Sources]
Visual on this slide was generated with Microsoft Copilot.
Source: Azure Well-Architected Framework sustainability overview says design choices shape resource consumption and sustainability overlaps with cost optimization: https://learn.microsoft.com/en-us/azure/well-architected/sustainability/overview
Source: Azure Well-Architected Framework sustainability workload documentation lists performance efficiency areas including application efficiency, compute, network and storage footprint: https://learn.microsoft.com/en-us/azure/well-architected/sustainability/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Ask students to think of code as spending a budget. Every loop, allocation, query and request spends from a cloud resource budget. Performance engineering is the craft of spending deliberately.
Source: Azure Well-Architected sustainability guidance links sustainability and performance to resource consumption across compute, memory, storage, network and time: https://github.com/MicrosoftDocs/well-architected/blob/main/well-architected/sustainability/sustainability-performance-efficiency-recommendations.md
[Sources]
Source: Azure Well-Architected sustainability guidance links sustainability and performance to resource consumption across compute, memory, storage, network and time: https://github.com/MicrosoftDocs/well-architected/blob/main/well-architected/sustainability/sustainability-performance-efficiency-recommendations.md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Introduce a repeatable engineering loop. The students should leave with a mindset: do not optimize random code. Define targets, measure, analyze and validate.
Source: Azure Monitor documentation says Azure Monitor helps collect and analyze telemetry to maximize performance and availability: https://learn.microsoft.com/en-us/azure/azure-monitor/
[Sources]
Source: Azure Monitor documentation says Azure Monitor helps collect and analyze telemetry to maximize performance and availability: https://learn.microsoft.com/en-us/azure/azure-monitor/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Explain that AI does not magically know what is happening in a cloud system. It needs high-quality telemetry. Poor observability leads to poor recommendations.
Visual on this slide was generated with Microsoft Copilot.
Source: Azure Monitor documentation describes monitoring Azure and on-premises services and aggregating/analyzing metrics, logs and traces: https://learn.microsoft.com/en-us/azure/azure-monitor/
Source: Application Insights overview describes Application Insights as an APM feature of Azure Monitor and says OpenTelemetry can instrument applications and collect telemetry: https://learn.microsoft.com/en-us/azure/azure-monitor/app/app-insights-overview
[Sources]
Visual on this slide was generated with Microsoft Copilot.
Source: Azure Monitor documentation describes monitoring Azure and on-premises services and aggregating/analyzing metrics, logs and traces: https://learn.microsoft.com/en-us/azure/azure-monitor/
Source: Application Insights overview describes Application Insights as an APM feature of Azure Monitor and says OpenTelemetry can instrument applications and collect telemetry: https://learn.microsoft.com/en-us/azure/azure-monitor/app/app-insights-overview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Keep this practical. Show students the mental map of where to look in the Azure portal if a workload is slow or wasteful.
Source: Application Insights overview lists capabilities including dashboard, application map, live metrics, search, availability, failures, performance, alerts, metrics, logs, workbooks and Grafana dashboards: https://learn.microsoft.com/en-us/azure/azure-monitor/app/app-insights-overview
Source: Application Insights Profiler settings page describes CPU and memory triggers and on-demand profiling sessions: https://learn.microsoft.com/en-us/azure/azure-monitor/profiler/profiler-settings
[Sources]
Source: Application Insights overview lists capabilities including dashboard, application map, live metrics, search, availability, failures, performance, alerts, metrics, logs, workbooks and Grafana dashboards: https://learn.microsoft.com/en-us/azure/azure-monitor/app/app-insights-overview
Source: Application Insights Profiler settings page describes CPU and memory triggers and on-demand profiling sessions: https://learn.microsoft.com/en-us/azure/azure-monitor/profiler/profiler-settings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Make an important distinction: AI should accelerate analysis, not replace engineering judgment. Ask students to validate every optimization with data.
Visual on this slide was generated with Microsoft Copilot.
Source: Azure Monitor Code Optimizations page describes an AI-based service in Application Insights that works with Application Insights Profiler for .NET to detect CPU and memory performance issues at code level and provide recommendations: https://learn.microsoft.com/en-us/azure/azure-monitor/optimization-insights/code-optimizations-profiler-overview
[Sources]
Visual on this slide was generated with Microsoft Copilot.
Source: Azure Monitor Code Optimizations page describes an AI-based service in Application Insights that works with Application Insights Profiler for .NET to detect CPU and memory performance issues at code level and provide recommendations: https://learn.microsoft.com/en-us/azure/azure-monitor/optimization-insights/code-optimizations-profiler-overview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Describe Copilot as a reasoning partner. The better the evidence you give it, the better the output. Never accept performance recommendations without tests.
Visual on this slide was generated with Microsoft Copilot.
Source: GitHub Copilot documentation says Copilot can enhance productivity and assist as you work on code: https://docs.github.com/en/copilot
Source: Azure Monitor Code Optimizations page says Code Optimizations connects data with methods/functions, finds bottlenecks and provides code-level performance fixes based on insights; it also mentions copying insight context to GitHub Copilot: https://learn.microsoft.com/en-us/azure/azure-monitor/optimization-insights/code-optimizations-profiler-overview
[Sources]
Visual on this slide was generated with Microsoft Copilot.
Source: GitHub Copilot documentation says Copilot can enhance productivity and assist as you work on code: https://docs.github.com/en/copilot
Source: Azure Monitor Code Optimizations page says Code Optimizations connects data with methods/functions, finds bottlenecks and provides code-level performance fixes based on insights; it also mentions copying insight context to GitHub Copilot: https://learn.microsoft.com/en-us/azure/azure-monitor/optimization-insights/code-optimizations-profiler-overview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A memory dump is like a frozen snapshot of a process. It can be powerful, but it can contain sensitive data and must be handled carefully. For interns, keep demos synthetic.
Visual on this slide was generated with Microsoft Copilot.
Source: Application Insights Profiler settings page explains CPU and memory triggers for profiling sessions: https://learn.microsoft.com/en-us/azure/azure-monitor/profiler/profiler-settings
Source: Application Insights smart detection documentation says memory leak detection can automatically analyze memory consumption of each process and warn about potential leaks or increased memory consumption: https://learn.microsoft.com/en-us/azure/azure-monitor/alerts/proactive-potential-memory-leak
[Sources]
Visual on this slide was generated with Microsoft Copilot.
Source: Application Insights Profiler settings page explains CPU and memory triggers for profiling sessions: https://learn.microsoft.com/en-us/azure/azure-monitor/profiler/profiler-settings
Source: Application Insights smart detection documentation says memory leak detection can automatically analyze memory consumption of each process and warn about potential leaks or increased memory consumption: https://learn.microsoft.com/en-us/azure/azure-monitor/alerts/proactive-potential-memory-leak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This is the nuance slide. AI should be used deliberately: the goal is not maximum model usage, the goal is better software using the right amount of intelligence.
Visual on this slide was generated with Microsoft Copilot.
Source: Azure Monitor Code Optimizations page states the Profiler typically adds 5% to 15% CPU and memory overhead while actively collecting traces, and that some code-level fix suggestions require GitHub Copilot or Copilot for Azure: https://learn.microsoft.com/en-us/azure/azure-monitor/optimization-insights/code-optimizations-profiler-overview
[Sources]
Visual on this slide was generated with Microsoft Copilot.
Source: Azure Monitor Code Optimizations page states the Profiler typically adds 5% to 15% CPU and memory overhead while actively collecting traces, and that some code-level fix suggestions require GitHub Copilot or Copilot for Azure: https://learn.microsoft.com/en-us/azure/azure-monitor/optimization-insights/code-optimizations-profiler-overview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This is the practical “what can I do Monday morning?” slide. Encourage interns to see performance as ordinary engineering hygiene, not only heroic incident response.
Source: Azure Well-Architected sustainability guidance includes reducing structural waste, idle platform waste, storage growth, delivery-path amplification, and performance efficiency work across application, compute, network and storage: https://learn.microsoft.com/en-us/azure/well-architected/sustainability/
[Sources]
Source: Azure Well-Architected sustainability guidance includes reducing structural waste, idle platform waste, storage growth, delivery-path amplification, and performance efficiency work across application, compute, network and storage: https://learn.microsoft.com/en-us/azure/well-architected/sustainability/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Use this as a bridge into demos. This flow gives students a mental architecture: app emits telemetry, Monitor stores and analyzes it, AI helps reason about improvement, developers implement and validate.
Source: Azure Monitor documentation describes collection, analysis, alerts and automation for telemetry: https://learn.microsoft.com/en-us/azure/azure-monitor/
Source: Application Insights overview describes application performance monitoring and OpenTelemetry support: https://learn.microsoft.com/en-us/azure/azure-monitor/app/app-insights-overview
Source: GitHub Copilot for Azure documentation lists Learn, Design and develop, Deploy, and Troubleshoot scenarios, including diagnosing slow Azure resources: https://learn.microsoft.com/en-us/azure/developer/github-copilot-azure/introduction
[Sources]
Source: Azure Monitor documentation describes collection, analysis, alerts and automation for telemetry: https://learn.microsoft.com/en-us/azure/azure-monitor/
Source: Application Insights overview describes application performance monitoring and OpenTelemetry support: https://learn.microsoft.com/en-us/azure/azure-monitor/app/app-insights-overview
Source: GitHub Copilot for Azure documentation lists Learn, Design and develop, Deploy, and Troubleshoot scenarios, including diagnosing slow Azure resources: https://learn.microsoft.com/en-us/azure/developer/github-copilot-azure/introduction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Keep demos safe, synthetic and repeatable. Avoid customer data and real production dumps. Tell students the goal is the method, not a fancy tool trick.
Visual on this slide was generated with Microsoft Copilot.
Source: Application Insights overview includes performance, failures, search, live metrics and logs experiences used in Demo A: https://learn.microsoft.com/en-us/azure/azure-monitor/app/app-insights-overview
Source: GitHub Copilot documentation supports developer assistance while working on code, used in Demo B: https://docs.github.com/en/copilot
Source: Application Insights Profiler and memory leak smart detection documentation support the diagnostics concepts in Demo C: https://learn.microsoft.com/en-us/azure/azure-monitor/profiler/profiler-settings and https://learn.microsoft.com/en-us/azure/azure-monitor/alerts/proactive-potential-memory-leak
[Sources]
Visual on this slide was generated with Microsoft Copilot.
Source: Application Insights overview includes performance, failures, search, live metrics and logs experiences used in Demo A: https://learn.microsoft.com/en-us/azure/azure-monitor/app/app-insights-overview
Source: GitHub Copilot documentation supports developer assistance while working on code, used in Demo B: https://docs.github.com/en/copilot
Source: Application Insights Profiler and memory leak smart detection documentation support the diagnostics concepts in Demo C: https://learn.microsoft.com/en-us/azure/azure-monitor/profiler/profiler-settings and https://learn.microsoft.com/en-us/azure/azure-monitor/alerts/proactive-potential-memory-leak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Talk track: Close with the engineering habit. Observability makes performance visible. AI can accelerate insight. Human judgment validates the tradeoffs.
Visual on this slide was generated with Microsoft Copilot.
Source: Azure Monitor documentation says Azure Monitor provides tools for collecting and analyzing telemetry to maximize performance and availability: https://learn.microsoft.com/en-us/azure/azure-monitor/
Source: Azure Well-Architected sustainability overview connects efficiency, cost optimization and resource waste reduction: https://learn.microsoft.com/en-us/azure/well-architected/sustainability/overview
[Sources]
Visual on this slide was generated with Microsoft Copilot.
Source: Azure Monitor documentation says Azure Monitor provides tools for collecting and analyzing telemetry to maximize performance and availability: https://learn.microsoft.com/en-us/azure/azure-monitor/
Source: Azure Well-Architected sustainability overview connects efficiency, cost optimization and resource waste reduction: https://learn.microsoft.com/en-us/azure/well-architected/sustainability/overview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384048" y="6473952"/>
            <a:ext cx="11430000" cy="0"/>
          </a:xfrm>
          <a:prstGeom prst="line">
            <a:avLst/>
          </a:prstGeom>
          <a:noFill/>
          <a:ln w="12700">
            <a:solidFill>
              <a:srgbClr val="1B7FD4">
                <a:alpha val="45000"/>
              </a:srgbClr>
            </a:solidFill>
            <a:prstDash val="solid"/>
          </a:ln>
        </p:spPr>
        <p:txBody>
          <a:bodyPr/>
          <a:lstStyle/>
          <a:p>
            <a:endParaRPr lang="en-US"/>
          </a:p>
        </p:txBody>
      </p:sp>
      <p:sp>
        <p:nvSpPr>
          <p:cNvPr id="4" name="Text 2"/>
          <p:cNvSpPr/>
          <p:nvPr/>
        </p:nvSpPr>
        <p:spPr>
          <a:xfrm>
            <a:off x="502920" y="6510528"/>
            <a:ext cx="5029200" cy="201168"/>
          </a:xfrm>
          <a:prstGeom prst="rect">
            <a:avLst/>
          </a:prstGeom>
          <a:noFill/>
          <a:ln/>
        </p:spPr>
        <p:txBody>
          <a:bodyPr wrap="square" rtlCol="0" anchor="ctr"/>
          <a:lstStyle/>
          <a:p>
            <a:pPr marL="0" indent="0">
              <a:buNone/>
            </a:pPr>
            <a:r>
              <a:rPr lang="en-US" sz="650" dirty="0">
                <a:solidFill>
                  <a:srgbClr val="9FB7D8"/>
                </a:solidFill>
                <a:latin typeface="Aptos" pitchFamily="34" charset="0"/>
                <a:ea typeface="Aptos" pitchFamily="34" charset="-122"/>
                <a:cs typeface="Aptos" pitchFamily="34" charset="-120"/>
              </a:rPr>
              <a:t>Microsoft Turkey Intern Session</a:t>
            </a:r>
            <a:endParaRPr lang="en-US" sz="65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github.com/fhbilgen/demo-summer-2026" TargetMode="External"/><Relationship Id="rId5" Type="http://schemas.openxmlformats.org/officeDocument/2006/relationships/hyperlink" Target="https://github.com/fhbilgen/PublicPresentations/tree/main/MSTRSummer2026" TargetMode="External"/><Relationship Id="rId4" Type="http://schemas.openxmlformats.org/officeDocument/2006/relationships/hyperlink" Target="mailto:faikb@microsoft.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b92074c74b.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72000"/>
            </a:srgbClr>
          </a:solidFill>
          <a:ln w="12700">
            <a:solidFill>
              <a:srgbClr val="000000">
                <a:alpha val="0"/>
              </a:srgbClr>
            </a:solidFill>
            <a:prstDash val="solid"/>
          </a:ln>
        </p:spPr>
        <p:txBody>
          <a:bodyPr/>
          <a:lstStyle/>
          <a:p>
            <a:endParaRPr lang="en-US"/>
          </a:p>
        </p:txBody>
      </p:sp>
      <p:sp>
        <p:nvSpPr>
          <p:cNvPr id="4" name="Text 1"/>
          <p:cNvSpPr/>
          <p:nvPr/>
        </p:nvSpPr>
        <p:spPr>
          <a:xfrm>
            <a:off x="530352" y="502920"/>
            <a:ext cx="7040880" cy="1051560"/>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Aptos Display" pitchFamily="34" charset="0"/>
                <a:ea typeface="Aptos Display" pitchFamily="34" charset="-122"/>
                <a:cs typeface="Aptos Display" pitchFamily="34" charset="-120"/>
              </a:rPr>
              <a:t>Performance in the age of intelligent cloud</a:t>
            </a:r>
            <a:endParaRPr lang="en-US" sz="3000" dirty="0"/>
          </a:p>
        </p:txBody>
      </p:sp>
      <p:sp>
        <p:nvSpPr>
          <p:cNvPr id="5" name="Text 2"/>
          <p:cNvSpPr/>
          <p:nvPr/>
        </p:nvSpPr>
        <p:spPr>
          <a:xfrm>
            <a:off x="566928" y="1572768"/>
            <a:ext cx="6126480" cy="320040"/>
          </a:xfrm>
          <a:prstGeom prst="rect">
            <a:avLst/>
          </a:prstGeom>
          <a:noFill/>
          <a:ln/>
        </p:spPr>
        <p:txBody>
          <a:bodyPr wrap="square" lIns="0" tIns="0" rIns="0" bIns="0" rtlCol="0" anchor="ctr"/>
          <a:lstStyle/>
          <a:p>
            <a:pPr marL="0" indent="0">
              <a:buNone/>
            </a:pPr>
            <a:r>
              <a:rPr lang="en-US" sz="1300" dirty="0">
                <a:solidFill>
                  <a:srgbClr val="DCEBFF"/>
                </a:solidFill>
              </a:rPr>
              <a:t>Building fast, frugal and sustainable software on Azure</a:t>
            </a:r>
            <a:endParaRPr lang="en-US" sz="1300" dirty="0"/>
          </a:p>
        </p:txBody>
      </p:sp>
      <p:sp>
        <p:nvSpPr>
          <p:cNvPr id="6" name="Shape 3"/>
          <p:cNvSpPr/>
          <p:nvPr/>
        </p:nvSpPr>
        <p:spPr>
          <a:xfrm>
            <a:off x="566928" y="1993392"/>
            <a:ext cx="2286000" cy="0"/>
          </a:xfrm>
          <a:prstGeom prst="line">
            <a:avLst/>
          </a:prstGeom>
          <a:noFill/>
          <a:ln w="38100">
            <a:solidFill>
              <a:srgbClr val="7FBA00"/>
            </a:solidFill>
            <a:prstDash val="solid"/>
          </a:ln>
        </p:spPr>
        <p:txBody>
          <a:bodyPr/>
          <a:lstStyle/>
          <a:p>
            <a:endParaRPr lang="en-US"/>
          </a:p>
        </p:txBody>
      </p:sp>
      <p:sp>
        <p:nvSpPr>
          <p:cNvPr id="7" name="Shape 4"/>
          <p:cNvSpPr/>
          <p:nvPr/>
        </p:nvSpPr>
        <p:spPr>
          <a:xfrm>
            <a:off x="566928" y="2212848"/>
            <a:ext cx="1508760" cy="301752"/>
          </a:xfrm>
          <a:prstGeom prst="roundRect">
            <a:avLst>
              <a:gd name="adj" fmla="val 24242"/>
            </a:avLst>
          </a:prstGeom>
          <a:solidFill>
            <a:srgbClr val="0078D4">
              <a:alpha val="95000"/>
            </a:srgbClr>
          </a:solidFill>
          <a:ln w="12700">
            <a:solidFill>
              <a:srgbClr val="0078D4">
                <a:alpha val="0"/>
              </a:srgbClr>
            </a:solidFill>
            <a:prstDash val="solid"/>
          </a:ln>
        </p:spPr>
        <p:txBody>
          <a:bodyPr/>
          <a:lstStyle/>
          <a:p>
            <a:endParaRPr lang="en-US"/>
          </a:p>
        </p:txBody>
      </p:sp>
      <p:sp>
        <p:nvSpPr>
          <p:cNvPr id="8" name="Text 5"/>
          <p:cNvSpPr/>
          <p:nvPr/>
        </p:nvSpPr>
        <p:spPr>
          <a:xfrm>
            <a:off x="658368" y="2281428"/>
            <a:ext cx="1325880" cy="109728"/>
          </a:xfrm>
          <a:prstGeom prst="rect">
            <a:avLst/>
          </a:prstGeom>
          <a:noFill/>
          <a:ln/>
        </p:spPr>
        <p:txBody>
          <a:bodyPr wrap="square" lIns="0" tIns="0" rIns="0" bIns="0" rtlCol="0" anchor="ctr"/>
          <a:lstStyle/>
          <a:p>
            <a:pPr marL="0" indent="0" algn="ctr">
              <a:buNone/>
            </a:pPr>
            <a:r>
              <a:rPr lang="en-US" sz="700" b="1" dirty="0">
                <a:solidFill>
                  <a:srgbClr val="FFFFFF"/>
                </a:solidFill>
              </a:rPr>
              <a:t>Azure</a:t>
            </a:r>
            <a:endParaRPr lang="en-US" sz="700" dirty="0"/>
          </a:p>
        </p:txBody>
      </p:sp>
      <p:sp>
        <p:nvSpPr>
          <p:cNvPr id="9" name="Shape 6"/>
          <p:cNvSpPr/>
          <p:nvPr/>
        </p:nvSpPr>
        <p:spPr>
          <a:xfrm>
            <a:off x="2194560" y="2212848"/>
            <a:ext cx="1508760" cy="301752"/>
          </a:xfrm>
          <a:prstGeom prst="roundRect">
            <a:avLst>
              <a:gd name="adj" fmla="val 24242"/>
            </a:avLst>
          </a:prstGeom>
          <a:solidFill>
            <a:srgbClr val="8661C5">
              <a:alpha val="95000"/>
            </a:srgbClr>
          </a:solidFill>
          <a:ln w="12700">
            <a:solidFill>
              <a:srgbClr val="8661C5">
                <a:alpha val="0"/>
              </a:srgbClr>
            </a:solidFill>
            <a:prstDash val="solid"/>
          </a:ln>
        </p:spPr>
        <p:txBody>
          <a:bodyPr/>
          <a:lstStyle/>
          <a:p>
            <a:endParaRPr lang="en-US"/>
          </a:p>
        </p:txBody>
      </p:sp>
      <p:sp>
        <p:nvSpPr>
          <p:cNvPr id="10" name="Text 7"/>
          <p:cNvSpPr/>
          <p:nvPr/>
        </p:nvSpPr>
        <p:spPr>
          <a:xfrm>
            <a:off x="2286000" y="2281428"/>
            <a:ext cx="1325880" cy="109728"/>
          </a:xfrm>
          <a:prstGeom prst="rect">
            <a:avLst/>
          </a:prstGeom>
          <a:noFill/>
          <a:ln/>
        </p:spPr>
        <p:txBody>
          <a:bodyPr wrap="square" lIns="0" tIns="0" rIns="0" bIns="0" rtlCol="0" anchor="ctr"/>
          <a:lstStyle/>
          <a:p>
            <a:pPr marL="0" indent="0" algn="ctr">
              <a:buNone/>
            </a:pPr>
            <a:r>
              <a:rPr lang="en-US" sz="700" b="1" dirty="0">
                <a:solidFill>
                  <a:srgbClr val="FFFFFF"/>
                </a:solidFill>
              </a:rPr>
              <a:t>AI</a:t>
            </a:r>
            <a:endParaRPr lang="en-US" sz="700" dirty="0"/>
          </a:p>
        </p:txBody>
      </p:sp>
      <p:sp>
        <p:nvSpPr>
          <p:cNvPr id="11" name="Shape 8"/>
          <p:cNvSpPr/>
          <p:nvPr/>
        </p:nvSpPr>
        <p:spPr>
          <a:xfrm>
            <a:off x="3822192" y="2212848"/>
            <a:ext cx="1508760" cy="301752"/>
          </a:xfrm>
          <a:prstGeom prst="roundRect">
            <a:avLst>
              <a:gd name="adj" fmla="val 24242"/>
            </a:avLst>
          </a:prstGeom>
          <a:solidFill>
            <a:srgbClr val="7FBA00">
              <a:alpha val="95000"/>
            </a:srgbClr>
          </a:solidFill>
          <a:ln w="12700">
            <a:solidFill>
              <a:srgbClr val="7FBA00">
                <a:alpha val="0"/>
              </a:srgbClr>
            </a:solidFill>
            <a:prstDash val="solid"/>
          </a:ln>
        </p:spPr>
        <p:txBody>
          <a:bodyPr/>
          <a:lstStyle/>
          <a:p>
            <a:endParaRPr lang="en-US"/>
          </a:p>
        </p:txBody>
      </p:sp>
      <p:sp>
        <p:nvSpPr>
          <p:cNvPr id="12" name="Text 9"/>
          <p:cNvSpPr/>
          <p:nvPr/>
        </p:nvSpPr>
        <p:spPr>
          <a:xfrm>
            <a:off x="3913632" y="2281428"/>
            <a:ext cx="1325880" cy="109728"/>
          </a:xfrm>
          <a:prstGeom prst="rect">
            <a:avLst/>
          </a:prstGeom>
          <a:noFill/>
          <a:ln/>
        </p:spPr>
        <p:txBody>
          <a:bodyPr wrap="square" lIns="0" tIns="0" rIns="0" bIns="0" rtlCol="0" anchor="ctr"/>
          <a:lstStyle/>
          <a:p>
            <a:pPr marL="0" indent="0" algn="ctr">
              <a:buNone/>
            </a:pPr>
            <a:r>
              <a:rPr lang="en-US" sz="700" b="1" dirty="0">
                <a:solidFill>
                  <a:srgbClr val="FFFFFF"/>
                </a:solidFill>
              </a:rPr>
              <a:t>Observability</a:t>
            </a:r>
            <a:endParaRPr lang="en-US" sz="700" dirty="0"/>
          </a:p>
        </p:txBody>
      </p:sp>
      <p:sp>
        <p:nvSpPr>
          <p:cNvPr id="13" name="Text 10"/>
          <p:cNvSpPr/>
          <p:nvPr/>
        </p:nvSpPr>
        <p:spPr>
          <a:xfrm>
            <a:off x="566927" y="5715000"/>
            <a:ext cx="7125397" cy="795528"/>
          </a:xfrm>
          <a:prstGeom prst="rect">
            <a:avLst/>
          </a:prstGeom>
          <a:noFill/>
          <a:ln/>
        </p:spPr>
        <p:txBody>
          <a:bodyPr wrap="square" lIns="0" tIns="0" rIns="0" bIns="0" rtlCol="0" anchor="ctr"/>
          <a:lstStyle/>
          <a:p>
            <a:pPr marL="0" indent="0">
              <a:buNone/>
            </a:pPr>
            <a:r>
              <a:rPr lang="en-US" sz="1100" b="1" dirty="0">
                <a:solidFill>
                  <a:srgbClr val="FFFFFF"/>
                </a:solidFill>
              </a:rPr>
              <a:t>For Microsoft Turkey summer interns</a:t>
            </a:r>
          </a:p>
          <a:p>
            <a:pPr marL="0" indent="0">
              <a:buNone/>
            </a:pPr>
            <a:r>
              <a:rPr lang="en-US" sz="1100" b="1" dirty="0">
                <a:solidFill>
                  <a:srgbClr val="FFFFFF"/>
                </a:solidFill>
              </a:rPr>
              <a:t>Faik Hakan Bilgen, Snr. CSA </a:t>
            </a:r>
            <a:r>
              <a:rPr lang="en-US" sz="1100" b="1" dirty="0">
                <a:solidFill>
                  <a:srgbClr val="FFFFFF"/>
                </a:solidFill>
                <a:hlinkClick r:id="rId4"/>
              </a:rPr>
              <a:t>faikb@microsoft.com</a:t>
            </a:r>
            <a:endParaRPr lang="en-US" sz="1100" b="1" dirty="0">
              <a:solidFill>
                <a:srgbClr val="FFFFFF"/>
              </a:solidFill>
            </a:endParaRPr>
          </a:p>
          <a:p>
            <a:pPr marL="0" indent="0">
              <a:buNone/>
            </a:pPr>
            <a:r>
              <a:rPr lang="en-US" sz="1100" b="1" dirty="0">
                <a:solidFill>
                  <a:srgbClr val="FFFFFF"/>
                </a:solidFill>
              </a:rPr>
              <a:t>Materials at</a:t>
            </a:r>
          </a:p>
          <a:p>
            <a:r>
              <a:rPr lang="en-US" sz="1100" dirty="0">
                <a:solidFill>
                  <a:schemeClr val="bg1"/>
                </a:solidFill>
                <a:hlinkClick r:id="rId5"/>
              </a:rPr>
              <a:t>https://github.com/fhbilgen/PublicPresentations/tree/main/MSTRSummer2026</a:t>
            </a:r>
            <a:r>
              <a:rPr lang="en-US" sz="1100" dirty="0">
                <a:solidFill>
                  <a:schemeClr val="bg1"/>
                </a:solidFill>
              </a:rPr>
              <a:t> </a:t>
            </a:r>
          </a:p>
          <a:p>
            <a:r>
              <a:rPr lang="en-US" sz="1100" dirty="0">
                <a:solidFill>
                  <a:schemeClr val="bg1"/>
                </a:solidFill>
                <a:hlinkClick r:id="rId6"/>
              </a:rPr>
              <a:t>https://github.com/fhbilgen/demo-summer-2026</a:t>
            </a:r>
            <a:r>
              <a:rPr lang="en-US" sz="1100" dirty="0">
                <a:solidFill>
                  <a:schemeClr val="bg1"/>
                </a:solidFill>
              </a:rPr>
              <a:t> </a:t>
            </a:r>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7fbe73364b.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5000"/>
            </a:srgbClr>
          </a:solidFill>
          <a:ln w="12700">
            <a:solidFill>
              <a:srgbClr val="000000">
                <a:alpha val="0"/>
              </a:srgbClr>
            </a:solidFill>
            <a:prstDash val="solid"/>
          </a:ln>
        </p:spPr>
        <p:txBody>
          <a:bodyPr/>
          <a:lstStyle/>
          <a:p>
            <a:endParaRPr lang="en-US"/>
          </a:p>
        </p:txBody>
      </p:sp>
      <p:sp>
        <p:nvSpPr>
          <p:cNvPr id="4" name="Text 1"/>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Why performance is a sustainability topic</a:t>
            </a:r>
            <a:endParaRPr lang="en-US" sz="2400" dirty="0"/>
          </a:p>
        </p:txBody>
      </p:sp>
      <p:sp>
        <p:nvSpPr>
          <p:cNvPr id="5" name="Text 2"/>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A performant workload does useful work with fewer resources.</a:t>
            </a:r>
            <a:endParaRPr lang="en-US" sz="950" dirty="0"/>
          </a:p>
        </p:txBody>
      </p:sp>
      <p:sp>
        <p:nvSpPr>
          <p:cNvPr id="6" name="Shape 3"/>
          <p:cNvSpPr/>
          <p:nvPr/>
        </p:nvSpPr>
        <p:spPr>
          <a:xfrm>
            <a:off x="594360" y="1234440"/>
            <a:ext cx="2926080" cy="4251960"/>
          </a:xfrm>
          <a:prstGeom prst="roundRect">
            <a:avLst>
              <a:gd name="adj" fmla="val 2500"/>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7" name="Shape 4"/>
          <p:cNvSpPr/>
          <p:nvPr/>
        </p:nvSpPr>
        <p:spPr>
          <a:xfrm>
            <a:off x="594360" y="1234440"/>
            <a:ext cx="45720" cy="4251960"/>
          </a:xfrm>
          <a:prstGeom prst="rect">
            <a:avLst/>
          </a:prstGeom>
          <a:solidFill>
            <a:srgbClr val="7FBA00"/>
          </a:solidFill>
          <a:ln w="12700">
            <a:solidFill>
              <a:srgbClr val="7FBA00"/>
            </a:solidFill>
            <a:prstDash val="solid"/>
          </a:ln>
        </p:spPr>
        <p:txBody>
          <a:bodyPr/>
          <a:lstStyle/>
          <a:p>
            <a:endParaRPr lang="en-US"/>
          </a:p>
        </p:txBody>
      </p:sp>
      <p:sp>
        <p:nvSpPr>
          <p:cNvPr id="8" name="Text 5"/>
          <p:cNvSpPr/>
          <p:nvPr/>
        </p:nvSpPr>
        <p:spPr>
          <a:xfrm>
            <a:off x="758952" y="1371600"/>
            <a:ext cx="2651760" cy="256032"/>
          </a:xfrm>
          <a:prstGeom prst="rect">
            <a:avLst/>
          </a:prstGeom>
          <a:noFill/>
          <a:ln/>
        </p:spPr>
        <p:txBody>
          <a:bodyPr wrap="square" lIns="0" tIns="0" rIns="0" bIns="0" rtlCol="0" anchor="ctr"/>
          <a:lstStyle/>
          <a:p>
            <a:pPr marL="0" indent="0">
              <a:buNone/>
            </a:pPr>
            <a:r>
              <a:rPr lang="en-US" sz="1200" b="1" dirty="0">
                <a:solidFill>
                  <a:srgbClr val="FFFFFF"/>
                </a:solidFill>
              </a:rPr>
              <a:t>The core idea</a:t>
            </a:r>
            <a:endParaRPr lang="en-US" sz="1200" dirty="0"/>
          </a:p>
        </p:txBody>
      </p:sp>
      <p:sp>
        <p:nvSpPr>
          <p:cNvPr id="9" name="Text 6"/>
          <p:cNvSpPr/>
          <p:nvPr/>
        </p:nvSpPr>
        <p:spPr>
          <a:xfrm>
            <a:off x="758952" y="1737360"/>
            <a:ext cx="2615184" cy="365760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Cloud software consumes physical resources.</a:t>
            </a:r>
            <a:endParaRPr lang="en-US" sz="870" dirty="0"/>
          </a:p>
          <a:p>
            <a:pPr marL="0" indent="0">
              <a:buNone/>
            </a:pPr>
            <a:r>
              <a:rPr lang="en-US" sz="870" dirty="0">
                <a:solidFill>
                  <a:srgbClr val="A7B4C8"/>
                </a:solidFill>
              </a:rPr>
              <a:t>• Waste appears as idle compute, memory pressure, storage growth and network chatter.</a:t>
            </a:r>
            <a:endParaRPr lang="en-US" sz="870" dirty="0"/>
          </a:p>
          <a:p>
            <a:pPr marL="0" indent="0">
              <a:buNone/>
            </a:pPr>
            <a:r>
              <a:rPr lang="en-US" sz="870" dirty="0">
                <a:solidFill>
                  <a:srgbClr val="A7B4C8"/>
                </a:solidFill>
              </a:rPr>
              <a:t>• Frugal software improves user experience, cost and sustainability together.</a:t>
            </a:r>
            <a:endParaRPr lang="en-US" sz="870" dirty="0"/>
          </a:p>
        </p:txBody>
      </p:sp>
      <p:sp>
        <p:nvSpPr>
          <p:cNvPr id="10" name="Shape 7"/>
          <p:cNvSpPr/>
          <p:nvPr/>
        </p:nvSpPr>
        <p:spPr>
          <a:xfrm>
            <a:off x="3794760" y="1234440"/>
            <a:ext cx="2926080" cy="4251960"/>
          </a:xfrm>
          <a:prstGeom prst="roundRect">
            <a:avLst>
              <a:gd name="adj" fmla="val 2500"/>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1" name="Shape 8"/>
          <p:cNvSpPr/>
          <p:nvPr/>
        </p:nvSpPr>
        <p:spPr>
          <a:xfrm>
            <a:off x="3794760" y="1234440"/>
            <a:ext cx="45720" cy="4251960"/>
          </a:xfrm>
          <a:prstGeom prst="rect">
            <a:avLst/>
          </a:prstGeom>
          <a:solidFill>
            <a:srgbClr val="36C5F0"/>
          </a:solidFill>
          <a:ln w="12700">
            <a:solidFill>
              <a:srgbClr val="36C5F0"/>
            </a:solidFill>
            <a:prstDash val="solid"/>
          </a:ln>
        </p:spPr>
        <p:txBody>
          <a:bodyPr/>
          <a:lstStyle/>
          <a:p>
            <a:endParaRPr lang="en-US"/>
          </a:p>
        </p:txBody>
      </p:sp>
      <p:sp>
        <p:nvSpPr>
          <p:cNvPr id="12" name="Text 9"/>
          <p:cNvSpPr/>
          <p:nvPr/>
        </p:nvSpPr>
        <p:spPr>
          <a:xfrm>
            <a:off x="3959352" y="1371600"/>
            <a:ext cx="2651760" cy="256032"/>
          </a:xfrm>
          <a:prstGeom prst="rect">
            <a:avLst/>
          </a:prstGeom>
          <a:noFill/>
          <a:ln/>
        </p:spPr>
        <p:txBody>
          <a:bodyPr wrap="square" lIns="0" tIns="0" rIns="0" bIns="0" rtlCol="0" anchor="ctr"/>
          <a:lstStyle/>
          <a:p>
            <a:pPr marL="0" indent="0">
              <a:buNone/>
            </a:pPr>
            <a:r>
              <a:rPr lang="en-US" sz="1200" b="1" dirty="0">
                <a:solidFill>
                  <a:srgbClr val="FFFFFF"/>
                </a:solidFill>
              </a:rPr>
              <a:t>Mental model</a:t>
            </a:r>
            <a:endParaRPr lang="en-US" sz="1200" dirty="0"/>
          </a:p>
        </p:txBody>
      </p:sp>
      <p:sp>
        <p:nvSpPr>
          <p:cNvPr id="13" name="Text 10"/>
          <p:cNvSpPr/>
          <p:nvPr/>
        </p:nvSpPr>
        <p:spPr>
          <a:xfrm>
            <a:off x="3959352" y="1737360"/>
            <a:ext cx="2615184" cy="365760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Fast is good.</a:t>
            </a:r>
            <a:endParaRPr lang="en-US" sz="870" dirty="0"/>
          </a:p>
          <a:p>
            <a:pPr marL="0" indent="0">
              <a:buNone/>
            </a:pPr>
            <a:r>
              <a:rPr lang="en-US" sz="870" dirty="0">
                <a:solidFill>
                  <a:srgbClr val="A7B4C8"/>
                </a:solidFill>
              </a:rPr>
              <a:t>• Efficient is better.</a:t>
            </a:r>
            <a:endParaRPr lang="en-US" sz="870" dirty="0"/>
          </a:p>
          <a:p>
            <a:pPr marL="0" indent="0">
              <a:buNone/>
            </a:pPr>
            <a:r>
              <a:rPr lang="en-US" sz="870" dirty="0">
                <a:solidFill>
                  <a:srgbClr val="A7B4C8"/>
                </a:solidFill>
              </a:rPr>
              <a:t>• Efficient + observable + continuously optimized is cloud engineering maturity.</a:t>
            </a:r>
            <a:endParaRPr lang="en-US" sz="870" dirty="0"/>
          </a:p>
        </p:txBody>
      </p:sp>
      <p:sp>
        <p:nvSpPr>
          <p:cNvPr id="14" name="Shape 11"/>
          <p:cNvSpPr/>
          <p:nvPr/>
        </p:nvSpPr>
        <p:spPr>
          <a:xfrm>
            <a:off x="6995160" y="1234440"/>
            <a:ext cx="4434840" cy="4251960"/>
          </a:xfrm>
          <a:prstGeom prst="roundRect">
            <a:avLst>
              <a:gd name="adj" fmla="val 1720"/>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5" name="Shape 12"/>
          <p:cNvSpPr/>
          <p:nvPr/>
        </p:nvSpPr>
        <p:spPr>
          <a:xfrm>
            <a:off x="6995160" y="1234440"/>
            <a:ext cx="45720" cy="4251960"/>
          </a:xfrm>
          <a:prstGeom prst="rect">
            <a:avLst/>
          </a:prstGeom>
          <a:solidFill>
            <a:srgbClr val="0078D4"/>
          </a:solidFill>
          <a:ln w="12700">
            <a:solidFill>
              <a:srgbClr val="0078D4"/>
            </a:solidFill>
            <a:prstDash val="solid"/>
          </a:ln>
        </p:spPr>
        <p:txBody>
          <a:bodyPr/>
          <a:lstStyle/>
          <a:p>
            <a:endParaRPr lang="en-US"/>
          </a:p>
        </p:txBody>
      </p:sp>
      <p:sp>
        <p:nvSpPr>
          <p:cNvPr id="16" name="Text 13"/>
          <p:cNvSpPr/>
          <p:nvPr/>
        </p:nvSpPr>
        <p:spPr>
          <a:xfrm>
            <a:off x="7159752" y="1371600"/>
            <a:ext cx="4160520" cy="256032"/>
          </a:xfrm>
          <a:prstGeom prst="rect">
            <a:avLst/>
          </a:prstGeom>
          <a:noFill/>
          <a:ln/>
        </p:spPr>
        <p:txBody>
          <a:bodyPr wrap="square" lIns="0" tIns="0" rIns="0" bIns="0" rtlCol="0" anchor="ctr"/>
          <a:lstStyle/>
          <a:p>
            <a:pPr marL="0" indent="0">
              <a:buNone/>
            </a:pPr>
            <a:r>
              <a:rPr lang="en-US" sz="1200" b="1" dirty="0">
                <a:solidFill>
                  <a:srgbClr val="FFFFFF"/>
                </a:solidFill>
              </a:rPr>
              <a:t>Azure Well-Architected connection</a:t>
            </a:r>
            <a:endParaRPr lang="en-US" sz="1200" dirty="0"/>
          </a:p>
        </p:txBody>
      </p:sp>
      <p:sp>
        <p:nvSpPr>
          <p:cNvPr id="17" name="Text 14"/>
          <p:cNvSpPr/>
          <p:nvPr/>
        </p:nvSpPr>
        <p:spPr>
          <a:xfrm>
            <a:off x="7159752" y="1737360"/>
            <a:ext cx="4123944" cy="365760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Sustainability guidance emphasizes design and operational choices that influence resource consumption.</a:t>
            </a:r>
            <a:endParaRPr lang="en-US" sz="870" dirty="0"/>
          </a:p>
          <a:p>
            <a:pPr marL="0" indent="0">
              <a:buNone/>
            </a:pPr>
            <a:r>
              <a:rPr lang="en-US" sz="870" dirty="0">
                <a:solidFill>
                  <a:srgbClr val="A7B4C8"/>
                </a:solidFill>
              </a:rPr>
              <a:t>• Performance efficiency recommendations focus on application efficiency, compute, network and storage footprint.</a:t>
            </a:r>
          </a:p>
          <a:p>
            <a:pPr marL="0" indent="0">
              <a:buNone/>
            </a:pPr>
            <a:endParaRPr lang="en-US" sz="870" dirty="0">
              <a:solidFill>
                <a:srgbClr val="A7B4C8"/>
              </a:solidFill>
            </a:endParaRPr>
          </a:p>
          <a:p>
            <a:pPr marL="0" indent="0">
              <a:buNone/>
            </a:pPr>
            <a:endParaRPr lang="en-US" sz="870" dirty="0">
              <a:solidFill>
                <a:srgbClr val="A7B4C8"/>
              </a:solidFill>
            </a:endParaRPr>
          </a:p>
          <a:p>
            <a:pPr marL="0" indent="0">
              <a:buNone/>
            </a:pPr>
            <a:r>
              <a:rPr lang="en-US" sz="870" dirty="0">
                <a:solidFill>
                  <a:schemeClr val="bg1"/>
                </a:solidFill>
              </a:rPr>
              <a:t>https://learn.microsoft.com/en-us/azure/well-architected/</a:t>
            </a:r>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The four resources your code spends</a:t>
            </a:r>
            <a:endParaRPr lang="en-US" sz="2400" dirty="0"/>
          </a:p>
        </p:txBody>
      </p:sp>
      <p:sp>
        <p:nvSpPr>
          <p:cNvPr id="3" name="Text 1"/>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The cloud bill and the carbon footprint both start with resource consumption.</a:t>
            </a:r>
            <a:endParaRPr lang="en-US" sz="950" dirty="0"/>
          </a:p>
        </p:txBody>
      </p:sp>
      <p:sp>
        <p:nvSpPr>
          <p:cNvPr id="4" name="Shape 2"/>
          <p:cNvSpPr/>
          <p:nvPr/>
        </p:nvSpPr>
        <p:spPr>
          <a:xfrm>
            <a:off x="658368" y="1325880"/>
            <a:ext cx="5166360" cy="1664208"/>
          </a:xfrm>
          <a:prstGeom prst="roundRect">
            <a:avLst>
              <a:gd name="adj" fmla="val 4396"/>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5" name="Shape 3"/>
          <p:cNvSpPr/>
          <p:nvPr/>
        </p:nvSpPr>
        <p:spPr>
          <a:xfrm>
            <a:off x="658368" y="1325880"/>
            <a:ext cx="45720" cy="1664208"/>
          </a:xfrm>
          <a:prstGeom prst="rect">
            <a:avLst/>
          </a:prstGeom>
          <a:solidFill>
            <a:srgbClr val="FFB900"/>
          </a:solidFill>
          <a:ln w="12700">
            <a:solidFill>
              <a:srgbClr val="FFB900"/>
            </a:solidFill>
            <a:prstDash val="solid"/>
          </a:ln>
        </p:spPr>
        <p:txBody>
          <a:bodyPr/>
          <a:lstStyle/>
          <a:p>
            <a:endParaRPr lang="en-US"/>
          </a:p>
        </p:txBody>
      </p:sp>
      <p:sp>
        <p:nvSpPr>
          <p:cNvPr id="6" name="Text 4"/>
          <p:cNvSpPr/>
          <p:nvPr/>
        </p:nvSpPr>
        <p:spPr>
          <a:xfrm>
            <a:off x="822960" y="1463040"/>
            <a:ext cx="4892040" cy="256032"/>
          </a:xfrm>
          <a:prstGeom prst="rect">
            <a:avLst/>
          </a:prstGeom>
          <a:noFill/>
          <a:ln/>
        </p:spPr>
        <p:txBody>
          <a:bodyPr wrap="square" lIns="0" tIns="0" rIns="0" bIns="0" rtlCol="0" anchor="ctr"/>
          <a:lstStyle/>
          <a:p>
            <a:pPr marL="0" indent="0">
              <a:buNone/>
            </a:pPr>
            <a:r>
              <a:rPr lang="en-US" sz="1200" b="1" dirty="0">
                <a:solidFill>
                  <a:srgbClr val="FFFFFF"/>
                </a:solidFill>
              </a:rPr>
              <a:t>CPU cycles</a:t>
            </a:r>
            <a:endParaRPr lang="en-US" sz="1200" dirty="0"/>
          </a:p>
        </p:txBody>
      </p:sp>
      <p:sp>
        <p:nvSpPr>
          <p:cNvPr id="7" name="Text 5"/>
          <p:cNvSpPr/>
          <p:nvPr/>
        </p:nvSpPr>
        <p:spPr>
          <a:xfrm>
            <a:off x="822960" y="1828800"/>
            <a:ext cx="4855464" cy="1069848"/>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Algorithm complexity, hot loops, serialization, encryption, compression</a:t>
            </a:r>
            <a:endParaRPr lang="en-US" sz="870" dirty="0"/>
          </a:p>
        </p:txBody>
      </p:sp>
      <p:sp>
        <p:nvSpPr>
          <p:cNvPr id="8" name="Shape 6"/>
          <p:cNvSpPr/>
          <p:nvPr/>
        </p:nvSpPr>
        <p:spPr>
          <a:xfrm>
            <a:off x="6327648" y="1325880"/>
            <a:ext cx="5166360" cy="1664208"/>
          </a:xfrm>
          <a:prstGeom prst="roundRect">
            <a:avLst>
              <a:gd name="adj" fmla="val 4396"/>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9" name="Shape 7"/>
          <p:cNvSpPr/>
          <p:nvPr/>
        </p:nvSpPr>
        <p:spPr>
          <a:xfrm>
            <a:off x="6327648" y="1325880"/>
            <a:ext cx="45720" cy="1664208"/>
          </a:xfrm>
          <a:prstGeom prst="rect">
            <a:avLst/>
          </a:prstGeom>
          <a:solidFill>
            <a:srgbClr val="7FBA00"/>
          </a:solidFill>
          <a:ln w="12700">
            <a:solidFill>
              <a:srgbClr val="7FBA00"/>
            </a:solidFill>
            <a:prstDash val="solid"/>
          </a:ln>
        </p:spPr>
        <p:txBody>
          <a:bodyPr/>
          <a:lstStyle/>
          <a:p>
            <a:endParaRPr lang="en-US"/>
          </a:p>
        </p:txBody>
      </p:sp>
      <p:sp>
        <p:nvSpPr>
          <p:cNvPr id="10" name="Text 8"/>
          <p:cNvSpPr/>
          <p:nvPr/>
        </p:nvSpPr>
        <p:spPr>
          <a:xfrm>
            <a:off x="6492240" y="1463040"/>
            <a:ext cx="4892040" cy="256032"/>
          </a:xfrm>
          <a:prstGeom prst="rect">
            <a:avLst/>
          </a:prstGeom>
          <a:noFill/>
          <a:ln/>
        </p:spPr>
        <p:txBody>
          <a:bodyPr wrap="square" lIns="0" tIns="0" rIns="0" bIns="0" rtlCol="0" anchor="ctr"/>
          <a:lstStyle/>
          <a:p>
            <a:pPr marL="0" indent="0">
              <a:buNone/>
            </a:pPr>
            <a:r>
              <a:rPr lang="en-US" sz="1200" b="1" dirty="0">
                <a:solidFill>
                  <a:srgbClr val="FFFFFF"/>
                </a:solidFill>
              </a:rPr>
              <a:t>RAM</a:t>
            </a:r>
            <a:endParaRPr lang="en-US" sz="1200" dirty="0"/>
          </a:p>
        </p:txBody>
      </p:sp>
      <p:sp>
        <p:nvSpPr>
          <p:cNvPr id="11" name="Text 9"/>
          <p:cNvSpPr/>
          <p:nvPr/>
        </p:nvSpPr>
        <p:spPr>
          <a:xfrm>
            <a:off x="6492240" y="1828800"/>
            <a:ext cx="4855464" cy="1069848"/>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Object allocation, caching, buffering, leaks, GC behavior</a:t>
            </a:r>
            <a:endParaRPr lang="en-US" sz="870" dirty="0"/>
          </a:p>
        </p:txBody>
      </p:sp>
      <p:sp>
        <p:nvSpPr>
          <p:cNvPr id="12" name="Shape 10"/>
          <p:cNvSpPr/>
          <p:nvPr/>
        </p:nvSpPr>
        <p:spPr>
          <a:xfrm>
            <a:off x="658368" y="3383280"/>
            <a:ext cx="5166360" cy="1664208"/>
          </a:xfrm>
          <a:prstGeom prst="roundRect">
            <a:avLst>
              <a:gd name="adj" fmla="val 4396"/>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3" name="Shape 11"/>
          <p:cNvSpPr/>
          <p:nvPr/>
        </p:nvSpPr>
        <p:spPr>
          <a:xfrm>
            <a:off x="658368" y="3383280"/>
            <a:ext cx="45720" cy="1664208"/>
          </a:xfrm>
          <a:prstGeom prst="rect">
            <a:avLst/>
          </a:prstGeom>
          <a:solidFill>
            <a:srgbClr val="36C5F0"/>
          </a:solidFill>
          <a:ln w="12700">
            <a:solidFill>
              <a:srgbClr val="36C5F0"/>
            </a:solidFill>
            <a:prstDash val="solid"/>
          </a:ln>
        </p:spPr>
        <p:txBody>
          <a:bodyPr/>
          <a:lstStyle/>
          <a:p>
            <a:endParaRPr lang="en-US"/>
          </a:p>
        </p:txBody>
      </p:sp>
      <p:sp>
        <p:nvSpPr>
          <p:cNvPr id="14" name="Text 12"/>
          <p:cNvSpPr/>
          <p:nvPr/>
        </p:nvSpPr>
        <p:spPr>
          <a:xfrm>
            <a:off x="822960" y="3520440"/>
            <a:ext cx="4892040" cy="256032"/>
          </a:xfrm>
          <a:prstGeom prst="rect">
            <a:avLst/>
          </a:prstGeom>
          <a:noFill/>
          <a:ln/>
        </p:spPr>
        <p:txBody>
          <a:bodyPr wrap="square" lIns="0" tIns="0" rIns="0" bIns="0" rtlCol="0" anchor="ctr"/>
          <a:lstStyle/>
          <a:p>
            <a:pPr marL="0" indent="0">
              <a:buNone/>
            </a:pPr>
            <a:r>
              <a:rPr lang="en-US" sz="1200" b="1" dirty="0">
                <a:solidFill>
                  <a:srgbClr val="FFFFFF"/>
                </a:solidFill>
              </a:rPr>
              <a:t>Persistent storage</a:t>
            </a:r>
            <a:endParaRPr lang="en-US" sz="1200" dirty="0"/>
          </a:p>
        </p:txBody>
      </p:sp>
      <p:sp>
        <p:nvSpPr>
          <p:cNvPr id="15" name="Text 13"/>
          <p:cNvSpPr/>
          <p:nvPr/>
        </p:nvSpPr>
        <p:spPr>
          <a:xfrm>
            <a:off x="822960" y="3886200"/>
            <a:ext cx="4855464" cy="1069848"/>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Indexes, logs, blobs, backups, retention, data duplication</a:t>
            </a:r>
            <a:endParaRPr lang="en-US" sz="870" dirty="0"/>
          </a:p>
        </p:txBody>
      </p:sp>
      <p:sp>
        <p:nvSpPr>
          <p:cNvPr id="16" name="Shape 14"/>
          <p:cNvSpPr/>
          <p:nvPr/>
        </p:nvSpPr>
        <p:spPr>
          <a:xfrm>
            <a:off x="6327648" y="3383280"/>
            <a:ext cx="5166360" cy="1664208"/>
          </a:xfrm>
          <a:prstGeom prst="roundRect">
            <a:avLst>
              <a:gd name="adj" fmla="val 4396"/>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7" name="Shape 15"/>
          <p:cNvSpPr/>
          <p:nvPr/>
        </p:nvSpPr>
        <p:spPr>
          <a:xfrm>
            <a:off x="6327648" y="3383280"/>
            <a:ext cx="45720" cy="1664208"/>
          </a:xfrm>
          <a:prstGeom prst="rect">
            <a:avLst/>
          </a:prstGeom>
          <a:solidFill>
            <a:srgbClr val="8661C5"/>
          </a:solidFill>
          <a:ln w="12700">
            <a:solidFill>
              <a:srgbClr val="8661C5"/>
            </a:solidFill>
            <a:prstDash val="solid"/>
          </a:ln>
        </p:spPr>
        <p:txBody>
          <a:bodyPr/>
          <a:lstStyle/>
          <a:p>
            <a:endParaRPr lang="en-US"/>
          </a:p>
        </p:txBody>
      </p:sp>
      <p:sp>
        <p:nvSpPr>
          <p:cNvPr id="18" name="Text 16"/>
          <p:cNvSpPr/>
          <p:nvPr/>
        </p:nvSpPr>
        <p:spPr>
          <a:xfrm>
            <a:off x="6492240" y="3520440"/>
            <a:ext cx="4892040" cy="256032"/>
          </a:xfrm>
          <a:prstGeom prst="rect">
            <a:avLst/>
          </a:prstGeom>
          <a:noFill/>
          <a:ln/>
        </p:spPr>
        <p:txBody>
          <a:bodyPr wrap="square" lIns="0" tIns="0" rIns="0" bIns="0" rtlCol="0" anchor="ctr"/>
          <a:lstStyle/>
          <a:p>
            <a:pPr marL="0" indent="0">
              <a:buNone/>
            </a:pPr>
            <a:r>
              <a:rPr lang="en-US" sz="1200" b="1" dirty="0">
                <a:solidFill>
                  <a:srgbClr val="FFFFFF"/>
                </a:solidFill>
              </a:rPr>
              <a:t>Network bandwidth</a:t>
            </a:r>
            <a:endParaRPr lang="en-US" sz="1200" dirty="0"/>
          </a:p>
        </p:txBody>
      </p:sp>
      <p:sp>
        <p:nvSpPr>
          <p:cNvPr id="19" name="Text 17"/>
          <p:cNvSpPr/>
          <p:nvPr/>
        </p:nvSpPr>
        <p:spPr>
          <a:xfrm>
            <a:off x="6492240" y="3886200"/>
            <a:ext cx="4855464" cy="1069848"/>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Chatty APIs, payload size, retries, cross-region traffic</a:t>
            </a:r>
            <a:endParaRPr lang="en-US" sz="870" dirty="0"/>
          </a:p>
        </p:txBody>
      </p:sp>
      <p:sp>
        <p:nvSpPr>
          <p:cNvPr id="20" name="Shape 18"/>
          <p:cNvSpPr/>
          <p:nvPr/>
        </p:nvSpPr>
        <p:spPr>
          <a:xfrm>
            <a:off x="5230368" y="5504688"/>
            <a:ext cx="1691640" cy="411480"/>
          </a:xfrm>
          <a:prstGeom prst="chevron">
            <a:avLst/>
          </a:prstGeom>
          <a:solidFill>
            <a:srgbClr val="7FBA00"/>
          </a:solidFill>
          <a:ln w="12700">
            <a:solidFill>
              <a:srgbClr val="7FBA00"/>
            </a:solidFill>
            <a:prstDash val="solid"/>
          </a:ln>
        </p:spPr>
        <p:txBody>
          <a:bodyPr/>
          <a:lstStyle/>
          <a:p>
            <a:endParaRPr lang="en-US"/>
          </a:p>
        </p:txBody>
      </p:sp>
      <p:sp>
        <p:nvSpPr>
          <p:cNvPr id="21" name="Text 19"/>
          <p:cNvSpPr/>
          <p:nvPr/>
        </p:nvSpPr>
        <p:spPr>
          <a:xfrm>
            <a:off x="6995160" y="5532120"/>
            <a:ext cx="4343400" cy="256032"/>
          </a:xfrm>
          <a:prstGeom prst="rect">
            <a:avLst/>
          </a:prstGeom>
          <a:noFill/>
          <a:ln/>
        </p:spPr>
        <p:txBody>
          <a:bodyPr wrap="square" lIns="0" tIns="0" rIns="0" bIns="0" rtlCol="0" anchor="ctr"/>
          <a:lstStyle/>
          <a:p>
            <a:pPr marL="0" indent="0">
              <a:buNone/>
            </a:pPr>
            <a:r>
              <a:rPr lang="en-US" sz="1200" b="1" dirty="0">
                <a:solidFill>
                  <a:srgbClr val="FFFFFF"/>
                </a:solidFill>
              </a:rPr>
              <a:t>Less waste = more headroom for innovation</a:t>
            </a:r>
            <a:endParaRPr lang="en-US" sz="120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From “run faster” to “run smarter”</a:t>
            </a:r>
            <a:endParaRPr lang="en-US" sz="2400" dirty="0"/>
          </a:p>
        </p:txBody>
      </p:sp>
      <p:sp>
        <p:nvSpPr>
          <p:cNvPr id="3" name="Text 1"/>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Performance is a loop, not a one-time benchmark.</a:t>
            </a:r>
            <a:endParaRPr lang="en-US" sz="950" dirty="0"/>
          </a:p>
        </p:txBody>
      </p:sp>
      <p:sp>
        <p:nvSpPr>
          <p:cNvPr id="4" name="Shape 2"/>
          <p:cNvSpPr/>
          <p:nvPr/>
        </p:nvSpPr>
        <p:spPr>
          <a:xfrm>
            <a:off x="548640" y="1417320"/>
            <a:ext cx="1828800" cy="3383280"/>
          </a:xfrm>
          <a:prstGeom prst="roundRect">
            <a:avLst>
              <a:gd name="adj" fmla="val 5500"/>
            </a:avLst>
          </a:prstGeom>
          <a:solidFill>
            <a:srgbClr val="1B2945"/>
          </a:solidFill>
          <a:ln w="12700">
            <a:solidFill>
              <a:srgbClr val="2A3D5E"/>
            </a:solidFill>
            <a:prstDash val="solid"/>
          </a:ln>
        </p:spPr>
        <p:txBody>
          <a:bodyPr/>
          <a:lstStyle/>
          <a:p>
            <a:endParaRPr lang="en-US"/>
          </a:p>
        </p:txBody>
      </p:sp>
      <p:sp>
        <p:nvSpPr>
          <p:cNvPr id="5" name="Text 3"/>
          <p:cNvSpPr/>
          <p:nvPr/>
        </p:nvSpPr>
        <p:spPr>
          <a:xfrm>
            <a:off x="685800" y="1600200"/>
            <a:ext cx="1554480" cy="274320"/>
          </a:xfrm>
          <a:prstGeom prst="rect">
            <a:avLst/>
          </a:prstGeom>
          <a:noFill/>
          <a:ln/>
        </p:spPr>
        <p:txBody>
          <a:bodyPr wrap="square" lIns="0" tIns="0" rIns="0" bIns="0" rtlCol="0" anchor="ctr"/>
          <a:lstStyle/>
          <a:p>
            <a:pPr marL="0" indent="0" algn="ctr">
              <a:buNone/>
            </a:pPr>
            <a:r>
              <a:rPr lang="en-US" sz="1300" b="1" dirty="0">
                <a:solidFill>
                  <a:srgbClr val="36C5F0"/>
                </a:solidFill>
              </a:rPr>
              <a:t>1. Define</a:t>
            </a:r>
            <a:endParaRPr lang="en-US" sz="1300" dirty="0"/>
          </a:p>
        </p:txBody>
      </p:sp>
      <p:sp>
        <p:nvSpPr>
          <p:cNvPr id="6" name="Text 4"/>
          <p:cNvSpPr/>
          <p:nvPr/>
        </p:nvSpPr>
        <p:spPr>
          <a:xfrm>
            <a:off x="713232" y="2148840"/>
            <a:ext cx="1481328" cy="1645920"/>
          </a:xfrm>
          <a:prstGeom prst="rect">
            <a:avLst/>
          </a:prstGeom>
          <a:noFill/>
          <a:ln/>
        </p:spPr>
        <p:txBody>
          <a:bodyPr wrap="square" lIns="508" tIns="508" rIns="508" bIns="508" rtlCol="0" anchor="ctr">
            <a:normAutofit/>
          </a:bodyPr>
          <a:lstStyle/>
          <a:p>
            <a:pPr marL="0" indent="0" algn="ctr">
              <a:buNone/>
            </a:pPr>
            <a:r>
              <a:rPr lang="en-US" sz="920" dirty="0">
                <a:solidFill>
                  <a:srgbClr val="FFFFFF"/>
                </a:solidFill>
              </a:rPr>
              <a:t>SLOs, latency, throughput, resource targets</a:t>
            </a:r>
            <a:endParaRPr lang="en-US" sz="920" dirty="0"/>
          </a:p>
        </p:txBody>
      </p:sp>
      <p:sp>
        <p:nvSpPr>
          <p:cNvPr id="7" name="Shape 5"/>
          <p:cNvSpPr/>
          <p:nvPr/>
        </p:nvSpPr>
        <p:spPr>
          <a:xfrm>
            <a:off x="2331720" y="2788920"/>
            <a:ext cx="502920" cy="320040"/>
          </a:xfrm>
          <a:prstGeom prst="rightArrow">
            <a:avLst/>
          </a:prstGeom>
          <a:solidFill>
            <a:srgbClr val="637EA8">
              <a:alpha val="80000"/>
            </a:srgbClr>
          </a:solidFill>
          <a:ln w="12700">
            <a:solidFill>
              <a:srgbClr val="637EA8">
                <a:alpha val="0"/>
              </a:srgbClr>
            </a:solidFill>
            <a:prstDash val="solid"/>
          </a:ln>
        </p:spPr>
        <p:txBody>
          <a:bodyPr/>
          <a:lstStyle/>
          <a:p>
            <a:endParaRPr lang="en-US"/>
          </a:p>
        </p:txBody>
      </p:sp>
      <p:sp>
        <p:nvSpPr>
          <p:cNvPr id="8" name="Shape 6"/>
          <p:cNvSpPr/>
          <p:nvPr/>
        </p:nvSpPr>
        <p:spPr>
          <a:xfrm>
            <a:off x="2816352" y="1417320"/>
            <a:ext cx="1828800" cy="3383280"/>
          </a:xfrm>
          <a:prstGeom prst="roundRect">
            <a:avLst>
              <a:gd name="adj" fmla="val 5500"/>
            </a:avLst>
          </a:prstGeom>
          <a:solidFill>
            <a:srgbClr val="172033"/>
          </a:solidFill>
          <a:ln w="12700">
            <a:solidFill>
              <a:srgbClr val="2A3D5E"/>
            </a:solidFill>
            <a:prstDash val="solid"/>
          </a:ln>
        </p:spPr>
        <p:txBody>
          <a:bodyPr/>
          <a:lstStyle/>
          <a:p>
            <a:endParaRPr lang="en-US"/>
          </a:p>
        </p:txBody>
      </p:sp>
      <p:sp>
        <p:nvSpPr>
          <p:cNvPr id="9" name="Text 7"/>
          <p:cNvSpPr/>
          <p:nvPr/>
        </p:nvSpPr>
        <p:spPr>
          <a:xfrm>
            <a:off x="2953512" y="1600200"/>
            <a:ext cx="1554480" cy="274320"/>
          </a:xfrm>
          <a:prstGeom prst="rect">
            <a:avLst/>
          </a:prstGeom>
          <a:noFill/>
          <a:ln/>
        </p:spPr>
        <p:txBody>
          <a:bodyPr wrap="square" lIns="0" tIns="0" rIns="0" bIns="0" rtlCol="0" anchor="ctr"/>
          <a:lstStyle/>
          <a:p>
            <a:pPr marL="0" indent="0" algn="ctr">
              <a:buNone/>
            </a:pPr>
            <a:r>
              <a:rPr lang="en-US" sz="1300" b="1" dirty="0">
                <a:solidFill>
                  <a:srgbClr val="7FBA00"/>
                </a:solidFill>
              </a:rPr>
              <a:t>2. Measure</a:t>
            </a:r>
            <a:endParaRPr lang="en-US" sz="1300" dirty="0"/>
          </a:p>
        </p:txBody>
      </p:sp>
      <p:sp>
        <p:nvSpPr>
          <p:cNvPr id="10" name="Text 8"/>
          <p:cNvSpPr/>
          <p:nvPr/>
        </p:nvSpPr>
        <p:spPr>
          <a:xfrm>
            <a:off x="2980944" y="2148840"/>
            <a:ext cx="1481328" cy="1645920"/>
          </a:xfrm>
          <a:prstGeom prst="rect">
            <a:avLst/>
          </a:prstGeom>
          <a:noFill/>
          <a:ln/>
        </p:spPr>
        <p:txBody>
          <a:bodyPr wrap="square" lIns="508" tIns="508" rIns="508" bIns="508" rtlCol="0" anchor="ctr">
            <a:normAutofit/>
          </a:bodyPr>
          <a:lstStyle/>
          <a:p>
            <a:pPr marL="0" indent="0" algn="ctr">
              <a:buNone/>
            </a:pPr>
            <a:r>
              <a:rPr lang="en-US" sz="920" dirty="0">
                <a:solidFill>
                  <a:srgbClr val="FFFFFF"/>
                </a:solidFill>
              </a:rPr>
              <a:t>Metrics, logs, traces, profiles, dumps</a:t>
            </a:r>
            <a:endParaRPr lang="en-US" sz="920" dirty="0"/>
          </a:p>
        </p:txBody>
      </p:sp>
      <p:sp>
        <p:nvSpPr>
          <p:cNvPr id="11" name="Shape 9"/>
          <p:cNvSpPr/>
          <p:nvPr/>
        </p:nvSpPr>
        <p:spPr>
          <a:xfrm>
            <a:off x="4599432" y="2788920"/>
            <a:ext cx="502920" cy="320040"/>
          </a:xfrm>
          <a:prstGeom prst="rightArrow">
            <a:avLst/>
          </a:prstGeom>
          <a:solidFill>
            <a:srgbClr val="637EA8">
              <a:alpha val="80000"/>
            </a:srgbClr>
          </a:solidFill>
          <a:ln w="12700">
            <a:solidFill>
              <a:srgbClr val="637EA8">
                <a:alpha val="0"/>
              </a:srgbClr>
            </a:solidFill>
            <a:prstDash val="solid"/>
          </a:ln>
        </p:spPr>
        <p:txBody>
          <a:bodyPr/>
          <a:lstStyle/>
          <a:p>
            <a:endParaRPr lang="en-US"/>
          </a:p>
        </p:txBody>
      </p:sp>
      <p:sp>
        <p:nvSpPr>
          <p:cNvPr id="12" name="Shape 10"/>
          <p:cNvSpPr/>
          <p:nvPr/>
        </p:nvSpPr>
        <p:spPr>
          <a:xfrm>
            <a:off x="5084064" y="1417320"/>
            <a:ext cx="1828800" cy="3383280"/>
          </a:xfrm>
          <a:prstGeom prst="roundRect">
            <a:avLst>
              <a:gd name="adj" fmla="val 5500"/>
            </a:avLst>
          </a:prstGeom>
          <a:solidFill>
            <a:srgbClr val="1B2945"/>
          </a:solidFill>
          <a:ln w="12700">
            <a:solidFill>
              <a:srgbClr val="2A3D5E"/>
            </a:solidFill>
            <a:prstDash val="solid"/>
          </a:ln>
        </p:spPr>
        <p:txBody>
          <a:bodyPr/>
          <a:lstStyle/>
          <a:p>
            <a:endParaRPr lang="en-US"/>
          </a:p>
        </p:txBody>
      </p:sp>
      <p:sp>
        <p:nvSpPr>
          <p:cNvPr id="13" name="Text 11"/>
          <p:cNvSpPr/>
          <p:nvPr/>
        </p:nvSpPr>
        <p:spPr>
          <a:xfrm>
            <a:off x="5221224" y="1600200"/>
            <a:ext cx="1554480" cy="274320"/>
          </a:xfrm>
          <a:prstGeom prst="rect">
            <a:avLst/>
          </a:prstGeom>
          <a:noFill/>
          <a:ln/>
        </p:spPr>
        <p:txBody>
          <a:bodyPr wrap="square" lIns="0" tIns="0" rIns="0" bIns="0" rtlCol="0" anchor="ctr"/>
          <a:lstStyle/>
          <a:p>
            <a:pPr marL="0" indent="0" algn="ctr">
              <a:buNone/>
            </a:pPr>
            <a:r>
              <a:rPr lang="en-US" sz="1300" b="1" dirty="0">
                <a:solidFill>
                  <a:srgbClr val="FFB900"/>
                </a:solidFill>
              </a:rPr>
              <a:t>3. Analyze</a:t>
            </a:r>
            <a:endParaRPr lang="en-US" sz="1300" dirty="0"/>
          </a:p>
        </p:txBody>
      </p:sp>
      <p:sp>
        <p:nvSpPr>
          <p:cNvPr id="14" name="Text 12"/>
          <p:cNvSpPr/>
          <p:nvPr/>
        </p:nvSpPr>
        <p:spPr>
          <a:xfrm>
            <a:off x="5248656" y="2148840"/>
            <a:ext cx="1481328" cy="1645920"/>
          </a:xfrm>
          <a:prstGeom prst="rect">
            <a:avLst/>
          </a:prstGeom>
          <a:noFill/>
          <a:ln/>
        </p:spPr>
        <p:txBody>
          <a:bodyPr wrap="square" lIns="508" tIns="508" rIns="508" bIns="508" rtlCol="0" anchor="ctr">
            <a:normAutofit/>
          </a:bodyPr>
          <a:lstStyle/>
          <a:p>
            <a:pPr marL="0" indent="0" algn="ctr">
              <a:buNone/>
            </a:pPr>
            <a:r>
              <a:rPr lang="en-US" sz="920" dirty="0">
                <a:solidFill>
                  <a:srgbClr val="FFFFFF"/>
                </a:solidFill>
              </a:rPr>
              <a:t>Bottlenecks, regressions, dependency behavior</a:t>
            </a:r>
            <a:endParaRPr lang="en-US" sz="920" dirty="0"/>
          </a:p>
        </p:txBody>
      </p:sp>
      <p:sp>
        <p:nvSpPr>
          <p:cNvPr id="15" name="Shape 13"/>
          <p:cNvSpPr/>
          <p:nvPr/>
        </p:nvSpPr>
        <p:spPr>
          <a:xfrm>
            <a:off x="6867144" y="2788920"/>
            <a:ext cx="502920" cy="320040"/>
          </a:xfrm>
          <a:prstGeom prst="rightArrow">
            <a:avLst/>
          </a:prstGeom>
          <a:solidFill>
            <a:srgbClr val="637EA8">
              <a:alpha val="80000"/>
            </a:srgbClr>
          </a:solidFill>
          <a:ln w="12700">
            <a:solidFill>
              <a:srgbClr val="637EA8">
                <a:alpha val="0"/>
              </a:srgbClr>
            </a:solidFill>
            <a:prstDash val="solid"/>
          </a:ln>
        </p:spPr>
        <p:txBody>
          <a:bodyPr/>
          <a:lstStyle/>
          <a:p>
            <a:endParaRPr lang="en-US"/>
          </a:p>
        </p:txBody>
      </p:sp>
      <p:sp>
        <p:nvSpPr>
          <p:cNvPr id="16" name="Shape 14"/>
          <p:cNvSpPr/>
          <p:nvPr/>
        </p:nvSpPr>
        <p:spPr>
          <a:xfrm>
            <a:off x="7351776" y="1417320"/>
            <a:ext cx="1828800" cy="3383280"/>
          </a:xfrm>
          <a:prstGeom prst="roundRect">
            <a:avLst>
              <a:gd name="adj" fmla="val 5500"/>
            </a:avLst>
          </a:prstGeom>
          <a:solidFill>
            <a:srgbClr val="172033"/>
          </a:solidFill>
          <a:ln w="12700">
            <a:solidFill>
              <a:srgbClr val="2A3D5E"/>
            </a:solidFill>
            <a:prstDash val="solid"/>
          </a:ln>
        </p:spPr>
        <p:txBody>
          <a:bodyPr/>
          <a:lstStyle/>
          <a:p>
            <a:endParaRPr lang="en-US"/>
          </a:p>
        </p:txBody>
      </p:sp>
      <p:sp>
        <p:nvSpPr>
          <p:cNvPr id="17" name="Text 15"/>
          <p:cNvSpPr/>
          <p:nvPr/>
        </p:nvSpPr>
        <p:spPr>
          <a:xfrm>
            <a:off x="7488936" y="1600200"/>
            <a:ext cx="1554480" cy="274320"/>
          </a:xfrm>
          <a:prstGeom prst="rect">
            <a:avLst/>
          </a:prstGeom>
          <a:noFill/>
          <a:ln/>
        </p:spPr>
        <p:txBody>
          <a:bodyPr wrap="square" lIns="0" tIns="0" rIns="0" bIns="0" rtlCol="0" anchor="ctr"/>
          <a:lstStyle/>
          <a:p>
            <a:pPr marL="0" indent="0" algn="ctr">
              <a:buNone/>
            </a:pPr>
            <a:r>
              <a:rPr lang="en-US" sz="1300" b="1" dirty="0">
                <a:solidFill>
                  <a:srgbClr val="8661C5"/>
                </a:solidFill>
              </a:rPr>
              <a:t>4. Optimize</a:t>
            </a:r>
            <a:endParaRPr lang="en-US" sz="1300" dirty="0"/>
          </a:p>
        </p:txBody>
      </p:sp>
      <p:sp>
        <p:nvSpPr>
          <p:cNvPr id="18" name="Text 16"/>
          <p:cNvSpPr/>
          <p:nvPr/>
        </p:nvSpPr>
        <p:spPr>
          <a:xfrm>
            <a:off x="7516368" y="2148840"/>
            <a:ext cx="1481328" cy="1645920"/>
          </a:xfrm>
          <a:prstGeom prst="rect">
            <a:avLst/>
          </a:prstGeom>
          <a:noFill/>
          <a:ln/>
        </p:spPr>
        <p:txBody>
          <a:bodyPr wrap="square" lIns="508" tIns="508" rIns="508" bIns="508" rtlCol="0" anchor="ctr">
            <a:normAutofit/>
          </a:bodyPr>
          <a:lstStyle/>
          <a:p>
            <a:pPr marL="0" indent="0" algn="ctr">
              <a:buNone/>
            </a:pPr>
            <a:r>
              <a:rPr lang="en-US" sz="920" dirty="0">
                <a:solidFill>
                  <a:srgbClr val="FFFFFF"/>
                </a:solidFill>
              </a:rPr>
              <a:t>Code, data, scale, architecture</a:t>
            </a:r>
            <a:endParaRPr lang="en-US" sz="920" dirty="0"/>
          </a:p>
        </p:txBody>
      </p:sp>
      <p:sp>
        <p:nvSpPr>
          <p:cNvPr id="19" name="Shape 17"/>
          <p:cNvSpPr/>
          <p:nvPr/>
        </p:nvSpPr>
        <p:spPr>
          <a:xfrm>
            <a:off x="9134856" y="2788920"/>
            <a:ext cx="502920" cy="320040"/>
          </a:xfrm>
          <a:prstGeom prst="rightArrow">
            <a:avLst/>
          </a:prstGeom>
          <a:solidFill>
            <a:srgbClr val="637EA8">
              <a:alpha val="80000"/>
            </a:srgbClr>
          </a:solidFill>
          <a:ln w="12700">
            <a:solidFill>
              <a:srgbClr val="637EA8">
                <a:alpha val="0"/>
              </a:srgbClr>
            </a:solidFill>
            <a:prstDash val="solid"/>
          </a:ln>
        </p:spPr>
        <p:txBody>
          <a:bodyPr/>
          <a:lstStyle/>
          <a:p>
            <a:endParaRPr lang="en-US"/>
          </a:p>
        </p:txBody>
      </p:sp>
      <p:sp>
        <p:nvSpPr>
          <p:cNvPr id="20" name="Shape 18"/>
          <p:cNvSpPr/>
          <p:nvPr/>
        </p:nvSpPr>
        <p:spPr>
          <a:xfrm>
            <a:off x="9619488" y="1417320"/>
            <a:ext cx="1828800" cy="3383280"/>
          </a:xfrm>
          <a:prstGeom prst="roundRect">
            <a:avLst>
              <a:gd name="adj" fmla="val 5500"/>
            </a:avLst>
          </a:prstGeom>
          <a:solidFill>
            <a:srgbClr val="1B2945"/>
          </a:solidFill>
          <a:ln w="12700">
            <a:solidFill>
              <a:srgbClr val="2A3D5E"/>
            </a:solidFill>
            <a:prstDash val="solid"/>
          </a:ln>
        </p:spPr>
        <p:txBody>
          <a:bodyPr/>
          <a:lstStyle/>
          <a:p>
            <a:endParaRPr lang="en-US"/>
          </a:p>
        </p:txBody>
      </p:sp>
      <p:sp>
        <p:nvSpPr>
          <p:cNvPr id="21" name="Text 19"/>
          <p:cNvSpPr/>
          <p:nvPr/>
        </p:nvSpPr>
        <p:spPr>
          <a:xfrm>
            <a:off x="9756648" y="1600200"/>
            <a:ext cx="1554480" cy="274320"/>
          </a:xfrm>
          <a:prstGeom prst="rect">
            <a:avLst/>
          </a:prstGeom>
          <a:noFill/>
          <a:ln/>
        </p:spPr>
        <p:txBody>
          <a:bodyPr wrap="square" lIns="0" tIns="0" rIns="0" bIns="0" rtlCol="0" anchor="ctr"/>
          <a:lstStyle/>
          <a:p>
            <a:pPr marL="0" indent="0" algn="ctr">
              <a:buNone/>
            </a:pPr>
            <a:r>
              <a:rPr lang="en-US" sz="1300" b="1" dirty="0">
                <a:solidFill>
                  <a:srgbClr val="0078D4"/>
                </a:solidFill>
              </a:rPr>
              <a:t>5. Validate</a:t>
            </a:r>
            <a:endParaRPr lang="en-US" sz="1300" dirty="0"/>
          </a:p>
        </p:txBody>
      </p:sp>
      <p:sp>
        <p:nvSpPr>
          <p:cNvPr id="22" name="Text 20"/>
          <p:cNvSpPr/>
          <p:nvPr/>
        </p:nvSpPr>
        <p:spPr>
          <a:xfrm>
            <a:off x="9784080" y="2148840"/>
            <a:ext cx="1481328" cy="1645920"/>
          </a:xfrm>
          <a:prstGeom prst="rect">
            <a:avLst/>
          </a:prstGeom>
          <a:noFill/>
          <a:ln/>
        </p:spPr>
        <p:txBody>
          <a:bodyPr wrap="square" lIns="508" tIns="508" rIns="508" bIns="508" rtlCol="0" anchor="ctr">
            <a:normAutofit/>
          </a:bodyPr>
          <a:lstStyle/>
          <a:p>
            <a:pPr marL="0" indent="0" algn="ctr">
              <a:buNone/>
            </a:pPr>
            <a:r>
              <a:rPr lang="en-US" sz="920" dirty="0">
                <a:solidFill>
                  <a:srgbClr val="FFFFFF"/>
                </a:solidFill>
              </a:rPr>
              <a:t>Load tests, canaries, guardrails</a:t>
            </a:r>
            <a:endParaRPr lang="en-US" sz="920" dirty="0"/>
          </a:p>
        </p:txBody>
      </p:sp>
      <p:sp>
        <p:nvSpPr>
          <p:cNvPr id="23" name="Text 21"/>
          <p:cNvSpPr/>
          <p:nvPr/>
        </p:nvSpPr>
        <p:spPr>
          <a:xfrm>
            <a:off x="685800" y="5532120"/>
            <a:ext cx="10789920" cy="365760"/>
          </a:xfrm>
          <a:prstGeom prst="rect">
            <a:avLst/>
          </a:prstGeom>
          <a:noFill/>
          <a:ln/>
        </p:spPr>
        <p:txBody>
          <a:bodyPr wrap="square" lIns="0" tIns="0" rIns="0" bIns="0" rtlCol="0" anchor="ctr"/>
          <a:lstStyle/>
          <a:p>
            <a:pPr marL="0" indent="0" algn="ctr">
              <a:buNone/>
            </a:pPr>
            <a:r>
              <a:rPr lang="en-US" sz="1700" b="1" dirty="0">
                <a:solidFill>
                  <a:srgbClr val="FFFFFF"/>
                </a:solidFill>
              </a:rPr>
              <a:t>Key message: optimization without measurement is guesswork.</a:t>
            </a:r>
            <a:endParaRPr lang="en-US" sz="170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586ccd6552.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w="12700">
            <a:solidFill>
              <a:srgbClr val="000000">
                <a:alpha val="0"/>
              </a:srgbClr>
            </a:solidFill>
            <a:prstDash val="solid"/>
          </a:ln>
        </p:spPr>
        <p:txBody>
          <a:bodyPr/>
          <a:lstStyle/>
          <a:p>
            <a:endParaRPr lang="en-US"/>
          </a:p>
        </p:txBody>
      </p:sp>
      <p:sp>
        <p:nvSpPr>
          <p:cNvPr id="4" name="Text 1"/>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Observability: the data foundation for optimization</a:t>
            </a:r>
            <a:endParaRPr lang="en-US" sz="2400" dirty="0"/>
          </a:p>
        </p:txBody>
      </p:sp>
      <p:sp>
        <p:nvSpPr>
          <p:cNvPr id="5" name="Text 2"/>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Metrics tell you what changed. Logs tell you what happened. Traces tell you where time went.</a:t>
            </a:r>
            <a:endParaRPr lang="en-US" sz="950" dirty="0"/>
          </a:p>
        </p:txBody>
      </p:sp>
      <p:sp>
        <p:nvSpPr>
          <p:cNvPr id="6" name="Shape 3"/>
          <p:cNvSpPr/>
          <p:nvPr/>
        </p:nvSpPr>
        <p:spPr>
          <a:xfrm>
            <a:off x="594360" y="1280160"/>
            <a:ext cx="2834640" cy="4343400"/>
          </a:xfrm>
          <a:prstGeom prst="roundRect">
            <a:avLst>
              <a:gd name="adj" fmla="val 2581"/>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7" name="Shape 4"/>
          <p:cNvSpPr/>
          <p:nvPr/>
        </p:nvSpPr>
        <p:spPr>
          <a:xfrm>
            <a:off x="594360" y="1280160"/>
            <a:ext cx="45720" cy="4343400"/>
          </a:xfrm>
          <a:prstGeom prst="rect">
            <a:avLst/>
          </a:prstGeom>
          <a:solidFill>
            <a:srgbClr val="36C5F0"/>
          </a:solidFill>
          <a:ln w="12700">
            <a:solidFill>
              <a:srgbClr val="36C5F0"/>
            </a:solidFill>
            <a:prstDash val="solid"/>
          </a:ln>
        </p:spPr>
        <p:txBody>
          <a:bodyPr/>
          <a:lstStyle/>
          <a:p>
            <a:endParaRPr lang="en-US"/>
          </a:p>
        </p:txBody>
      </p:sp>
      <p:sp>
        <p:nvSpPr>
          <p:cNvPr id="8" name="Text 5"/>
          <p:cNvSpPr/>
          <p:nvPr/>
        </p:nvSpPr>
        <p:spPr>
          <a:xfrm>
            <a:off x="758952" y="1417320"/>
            <a:ext cx="2560320" cy="256032"/>
          </a:xfrm>
          <a:prstGeom prst="rect">
            <a:avLst/>
          </a:prstGeom>
          <a:noFill/>
          <a:ln/>
        </p:spPr>
        <p:txBody>
          <a:bodyPr wrap="square" lIns="0" tIns="0" rIns="0" bIns="0" rtlCol="0" anchor="ctr"/>
          <a:lstStyle/>
          <a:p>
            <a:pPr marL="0" indent="0">
              <a:buNone/>
            </a:pPr>
            <a:r>
              <a:rPr lang="en-US" sz="1200" b="1" dirty="0">
                <a:solidFill>
                  <a:srgbClr val="FFFFFF"/>
                </a:solidFill>
              </a:rPr>
              <a:t>Metrics</a:t>
            </a:r>
            <a:endParaRPr lang="en-US" sz="1200" dirty="0"/>
          </a:p>
        </p:txBody>
      </p:sp>
      <p:sp>
        <p:nvSpPr>
          <p:cNvPr id="9" name="Text 6"/>
          <p:cNvSpPr/>
          <p:nvPr/>
        </p:nvSpPr>
        <p:spPr>
          <a:xfrm>
            <a:off x="758952" y="1783080"/>
            <a:ext cx="2523744" cy="374904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Time-series signals.</a:t>
            </a:r>
            <a:endParaRPr lang="en-US" sz="870" dirty="0"/>
          </a:p>
          <a:p>
            <a:pPr marL="0" indent="0">
              <a:buNone/>
            </a:pPr>
            <a:r>
              <a:rPr lang="en-US" sz="870" dirty="0">
                <a:solidFill>
                  <a:srgbClr val="A7B4C8"/>
                </a:solidFill>
              </a:rPr>
              <a:t>• Great for resource usage, latency, throughput and error rate.</a:t>
            </a:r>
            <a:endParaRPr lang="en-US" sz="870" dirty="0"/>
          </a:p>
          <a:p>
            <a:pPr marL="0" indent="0">
              <a:buNone/>
            </a:pPr>
            <a:r>
              <a:rPr lang="en-US" sz="870" dirty="0">
                <a:solidFill>
                  <a:srgbClr val="A7B4C8"/>
                </a:solidFill>
              </a:rPr>
              <a:t>• Best for dashboards and alerts.</a:t>
            </a:r>
            <a:endParaRPr lang="en-US" sz="870" dirty="0"/>
          </a:p>
        </p:txBody>
      </p:sp>
      <p:sp>
        <p:nvSpPr>
          <p:cNvPr id="10" name="Shape 7"/>
          <p:cNvSpPr/>
          <p:nvPr/>
        </p:nvSpPr>
        <p:spPr>
          <a:xfrm>
            <a:off x="3703320" y="1280160"/>
            <a:ext cx="2834640" cy="4343400"/>
          </a:xfrm>
          <a:prstGeom prst="roundRect">
            <a:avLst>
              <a:gd name="adj" fmla="val 2581"/>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1" name="Shape 8"/>
          <p:cNvSpPr/>
          <p:nvPr/>
        </p:nvSpPr>
        <p:spPr>
          <a:xfrm>
            <a:off x="3703320" y="1280160"/>
            <a:ext cx="45720" cy="4343400"/>
          </a:xfrm>
          <a:prstGeom prst="rect">
            <a:avLst/>
          </a:prstGeom>
          <a:solidFill>
            <a:srgbClr val="8661C5"/>
          </a:solidFill>
          <a:ln w="12700">
            <a:solidFill>
              <a:srgbClr val="8661C5"/>
            </a:solidFill>
            <a:prstDash val="solid"/>
          </a:ln>
        </p:spPr>
        <p:txBody>
          <a:bodyPr/>
          <a:lstStyle/>
          <a:p>
            <a:endParaRPr lang="en-US"/>
          </a:p>
        </p:txBody>
      </p:sp>
      <p:sp>
        <p:nvSpPr>
          <p:cNvPr id="12" name="Text 9"/>
          <p:cNvSpPr/>
          <p:nvPr/>
        </p:nvSpPr>
        <p:spPr>
          <a:xfrm>
            <a:off x="3867912" y="1417320"/>
            <a:ext cx="2560320" cy="256032"/>
          </a:xfrm>
          <a:prstGeom prst="rect">
            <a:avLst/>
          </a:prstGeom>
          <a:noFill/>
          <a:ln/>
        </p:spPr>
        <p:txBody>
          <a:bodyPr wrap="square" lIns="0" tIns="0" rIns="0" bIns="0" rtlCol="0" anchor="ctr"/>
          <a:lstStyle/>
          <a:p>
            <a:pPr marL="0" indent="0">
              <a:buNone/>
            </a:pPr>
            <a:r>
              <a:rPr lang="en-US" sz="1200" b="1" dirty="0">
                <a:solidFill>
                  <a:srgbClr val="FFFFFF"/>
                </a:solidFill>
              </a:rPr>
              <a:t>Logs</a:t>
            </a:r>
            <a:endParaRPr lang="en-US" sz="1200" dirty="0"/>
          </a:p>
        </p:txBody>
      </p:sp>
      <p:sp>
        <p:nvSpPr>
          <p:cNvPr id="13" name="Text 10"/>
          <p:cNvSpPr/>
          <p:nvPr/>
        </p:nvSpPr>
        <p:spPr>
          <a:xfrm>
            <a:off x="3867912" y="1783080"/>
            <a:ext cx="2523744" cy="374904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Detailed event records.</a:t>
            </a:r>
            <a:endParaRPr lang="en-US" sz="870" dirty="0"/>
          </a:p>
          <a:p>
            <a:pPr marL="0" indent="0">
              <a:buNone/>
            </a:pPr>
            <a:r>
              <a:rPr lang="en-US" sz="870" dirty="0">
                <a:solidFill>
                  <a:srgbClr val="A7B4C8"/>
                </a:solidFill>
              </a:rPr>
              <a:t>• Great for exceptions, diagnostics and audit trails.</a:t>
            </a:r>
            <a:endParaRPr lang="en-US" sz="870" dirty="0"/>
          </a:p>
          <a:p>
            <a:pPr marL="0" indent="0">
              <a:buNone/>
            </a:pPr>
            <a:r>
              <a:rPr lang="en-US" sz="870" dirty="0">
                <a:solidFill>
                  <a:srgbClr val="A7B4C8"/>
                </a:solidFill>
              </a:rPr>
              <a:t>• Best for investigation and context.</a:t>
            </a:r>
            <a:endParaRPr lang="en-US" sz="870" dirty="0"/>
          </a:p>
        </p:txBody>
      </p:sp>
      <p:sp>
        <p:nvSpPr>
          <p:cNvPr id="14" name="Shape 11"/>
          <p:cNvSpPr/>
          <p:nvPr/>
        </p:nvSpPr>
        <p:spPr>
          <a:xfrm>
            <a:off x="6812280" y="1280160"/>
            <a:ext cx="2834640" cy="4343400"/>
          </a:xfrm>
          <a:prstGeom prst="roundRect">
            <a:avLst>
              <a:gd name="adj" fmla="val 2581"/>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5" name="Shape 12"/>
          <p:cNvSpPr/>
          <p:nvPr/>
        </p:nvSpPr>
        <p:spPr>
          <a:xfrm>
            <a:off x="6812280" y="1280160"/>
            <a:ext cx="45720" cy="4343400"/>
          </a:xfrm>
          <a:prstGeom prst="rect">
            <a:avLst/>
          </a:prstGeom>
          <a:solidFill>
            <a:srgbClr val="7FBA00"/>
          </a:solidFill>
          <a:ln w="12700">
            <a:solidFill>
              <a:srgbClr val="7FBA00"/>
            </a:solidFill>
            <a:prstDash val="solid"/>
          </a:ln>
        </p:spPr>
        <p:txBody>
          <a:bodyPr/>
          <a:lstStyle/>
          <a:p>
            <a:endParaRPr lang="en-US"/>
          </a:p>
        </p:txBody>
      </p:sp>
      <p:sp>
        <p:nvSpPr>
          <p:cNvPr id="16" name="Text 13"/>
          <p:cNvSpPr/>
          <p:nvPr/>
        </p:nvSpPr>
        <p:spPr>
          <a:xfrm>
            <a:off x="6976872" y="1417320"/>
            <a:ext cx="2560320" cy="256032"/>
          </a:xfrm>
          <a:prstGeom prst="rect">
            <a:avLst/>
          </a:prstGeom>
          <a:noFill/>
          <a:ln/>
        </p:spPr>
        <p:txBody>
          <a:bodyPr wrap="square" lIns="0" tIns="0" rIns="0" bIns="0" rtlCol="0" anchor="ctr"/>
          <a:lstStyle/>
          <a:p>
            <a:pPr marL="0" indent="0">
              <a:buNone/>
            </a:pPr>
            <a:r>
              <a:rPr lang="en-US" sz="1200" b="1" dirty="0">
                <a:solidFill>
                  <a:srgbClr val="FFFFFF"/>
                </a:solidFill>
              </a:rPr>
              <a:t>Traces</a:t>
            </a:r>
            <a:endParaRPr lang="en-US" sz="1200" dirty="0"/>
          </a:p>
        </p:txBody>
      </p:sp>
      <p:sp>
        <p:nvSpPr>
          <p:cNvPr id="17" name="Text 14"/>
          <p:cNvSpPr/>
          <p:nvPr/>
        </p:nvSpPr>
        <p:spPr>
          <a:xfrm>
            <a:off x="6976872" y="1783080"/>
            <a:ext cx="2523744" cy="374904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End-to-end request path.</a:t>
            </a:r>
            <a:endParaRPr lang="en-US" sz="870" dirty="0"/>
          </a:p>
          <a:p>
            <a:pPr marL="0" indent="0">
              <a:buNone/>
            </a:pPr>
            <a:r>
              <a:rPr lang="en-US" sz="870" dirty="0">
                <a:solidFill>
                  <a:srgbClr val="A7B4C8"/>
                </a:solidFill>
              </a:rPr>
              <a:t>• Great for distributed systems and dependency latency.</a:t>
            </a:r>
            <a:endParaRPr lang="en-US" sz="870" dirty="0"/>
          </a:p>
          <a:p>
            <a:pPr marL="0" indent="0">
              <a:buNone/>
            </a:pPr>
            <a:r>
              <a:rPr lang="en-US" sz="870" dirty="0">
                <a:solidFill>
                  <a:srgbClr val="A7B4C8"/>
                </a:solidFill>
              </a:rPr>
              <a:t>• Best for finding bottlenecks.</a:t>
            </a:r>
            <a:endParaRPr lang="en-US" sz="870" dirty="0"/>
          </a:p>
        </p:txBody>
      </p:sp>
      <p:sp>
        <p:nvSpPr>
          <p:cNvPr id="18" name="Shape 15"/>
          <p:cNvSpPr/>
          <p:nvPr/>
        </p:nvSpPr>
        <p:spPr>
          <a:xfrm>
            <a:off x="9966960" y="1920240"/>
            <a:ext cx="1554480" cy="2560320"/>
          </a:xfrm>
          <a:prstGeom prst="roundRect">
            <a:avLst>
              <a:gd name="adj" fmla="val 7059"/>
            </a:avLst>
          </a:prstGeom>
          <a:solidFill>
            <a:srgbClr val="0078D4">
              <a:alpha val="90000"/>
            </a:srgbClr>
          </a:solidFill>
          <a:ln w="12700">
            <a:solidFill>
              <a:srgbClr val="0078D4"/>
            </a:solidFill>
            <a:prstDash val="solid"/>
          </a:ln>
        </p:spPr>
        <p:txBody>
          <a:bodyPr/>
          <a:lstStyle/>
          <a:p>
            <a:endParaRPr lang="en-US"/>
          </a:p>
        </p:txBody>
      </p:sp>
      <p:sp>
        <p:nvSpPr>
          <p:cNvPr id="19" name="Text 16"/>
          <p:cNvSpPr/>
          <p:nvPr/>
        </p:nvSpPr>
        <p:spPr>
          <a:xfrm>
            <a:off x="10122408" y="2240280"/>
            <a:ext cx="1234440" cy="7315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Ask better questions</a:t>
            </a:r>
            <a:endParaRPr lang="en-US" sz="1300" dirty="0"/>
          </a:p>
        </p:txBody>
      </p:sp>
      <p:sp>
        <p:nvSpPr>
          <p:cNvPr id="20" name="Text 17"/>
          <p:cNvSpPr/>
          <p:nvPr/>
        </p:nvSpPr>
        <p:spPr>
          <a:xfrm>
            <a:off x="10104120" y="3063240"/>
            <a:ext cx="1280160" cy="822960"/>
          </a:xfrm>
          <a:prstGeom prst="rect">
            <a:avLst/>
          </a:prstGeom>
          <a:noFill/>
          <a:ln/>
        </p:spPr>
        <p:txBody>
          <a:bodyPr wrap="square" lIns="0" tIns="0" rIns="0" bIns="0" rtlCol="0" anchor="ctr"/>
          <a:lstStyle/>
          <a:p>
            <a:pPr marL="0" indent="0" algn="ctr">
              <a:buNone/>
            </a:pPr>
            <a:r>
              <a:rPr lang="en-US" sz="850" dirty="0">
                <a:solidFill>
                  <a:srgbClr val="DCEBFF"/>
                </a:solidFill>
              </a:rPr>
              <a:t>Why is this slow?</a:t>
            </a:r>
            <a:endParaRPr lang="en-US" sz="850" dirty="0"/>
          </a:p>
          <a:p>
            <a:pPr marL="0" indent="0" algn="ctr">
              <a:buNone/>
            </a:pPr>
            <a:r>
              <a:rPr lang="en-US" sz="850" dirty="0">
                <a:solidFill>
                  <a:srgbClr val="DCEBFF"/>
                </a:solidFill>
              </a:rPr>
              <a:t>Where is waste?</a:t>
            </a:r>
            <a:endParaRPr lang="en-US" sz="850" dirty="0"/>
          </a:p>
          <a:p>
            <a:pPr marL="0" indent="0" algn="ctr">
              <a:buNone/>
            </a:pPr>
            <a:r>
              <a:rPr lang="en-US" sz="850" dirty="0">
                <a:solidFill>
                  <a:srgbClr val="DCEBFF"/>
                </a:solidFill>
              </a:rPr>
              <a:t>What changed?</a:t>
            </a:r>
            <a:endParaRPr lang="en-US" sz="85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Azure Monitor + Application Insights: the optimization toolbox</a:t>
            </a:r>
            <a:endParaRPr lang="en-US" sz="2400" dirty="0"/>
          </a:p>
        </p:txBody>
      </p:sp>
      <p:sp>
        <p:nvSpPr>
          <p:cNvPr id="3" name="Text 1"/>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A practical map for students: from signal to action.</a:t>
            </a:r>
            <a:endParaRPr lang="en-US" sz="950" dirty="0"/>
          </a:p>
        </p:txBody>
      </p:sp>
      <p:sp>
        <p:nvSpPr>
          <p:cNvPr id="4" name="Shape 2"/>
          <p:cNvSpPr/>
          <p:nvPr/>
        </p:nvSpPr>
        <p:spPr>
          <a:xfrm>
            <a:off x="658368" y="12344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5" name="Text 3"/>
          <p:cNvSpPr/>
          <p:nvPr/>
        </p:nvSpPr>
        <p:spPr>
          <a:xfrm>
            <a:off x="795528" y="1399032"/>
            <a:ext cx="2240280" cy="228600"/>
          </a:xfrm>
          <a:prstGeom prst="rect">
            <a:avLst/>
          </a:prstGeom>
          <a:noFill/>
          <a:ln/>
        </p:spPr>
        <p:txBody>
          <a:bodyPr wrap="square" lIns="0" tIns="0" rIns="0" bIns="0" rtlCol="0" anchor="ctr">
            <a:normAutofit/>
          </a:bodyPr>
          <a:lstStyle/>
          <a:p>
            <a:pPr marL="0" indent="0">
              <a:buNone/>
            </a:pPr>
            <a:r>
              <a:rPr lang="en-US" sz="1100" b="1" dirty="0">
                <a:solidFill>
                  <a:srgbClr val="36C5F0"/>
                </a:solidFill>
              </a:rPr>
              <a:t>Application dashboard</a:t>
            </a:r>
            <a:endParaRPr lang="en-US" sz="1100" dirty="0"/>
          </a:p>
        </p:txBody>
      </p:sp>
      <p:sp>
        <p:nvSpPr>
          <p:cNvPr id="6" name="Text 4"/>
          <p:cNvSpPr/>
          <p:nvPr/>
        </p:nvSpPr>
        <p:spPr>
          <a:xfrm>
            <a:off x="795528" y="18013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Health and performance at a glance</a:t>
            </a:r>
            <a:endParaRPr lang="en-US" sz="840" dirty="0"/>
          </a:p>
        </p:txBody>
      </p:sp>
      <p:sp>
        <p:nvSpPr>
          <p:cNvPr id="7" name="Shape 5"/>
          <p:cNvSpPr/>
          <p:nvPr/>
        </p:nvSpPr>
        <p:spPr>
          <a:xfrm>
            <a:off x="3493008" y="12344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8" name="Text 6"/>
          <p:cNvSpPr/>
          <p:nvPr/>
        </p:nvSpPr>
        <p:spPr>
          <a:xfrm>
            <a:off x="3630168" y="1399032"/>
            <a:ext cx="2240280" cy="228600"/>
          </a:xfrm>
          <a:prstGeom prst="rect">
            <a:avLst/>
          </a:prstGeom>
          <a:noFill/>
          <a:ln/>
        </p:spPr>
        <p:txBody>
          <a:bodyPr wrap="square" lIns="0" tIns="0" rIns="0" bIns="0" rtlCol="0" anchor="ctr">
            <a:normAutofit/>
          </a:bodyPr>
          <a:lstStyle/>
          <a:p>
            <a:pPr marL="0" indent="0">
              <a:buNone/>
            </a:pPr>
            <a:r>
              <a:rPr lang="en-US" sz="1100" b="1" dirty="0">
                <a:solidFill>
                  <a:srgbClr val="7FBA00"/>
                </a:solidFill>
              </a:rPr>
              <a:t>Application map</a:t>
            </a:r>
            <a:endParaRPr lang="en-US" sz="1100" dirty="0"/>
          </a:p>
        </p:txBody>
      </p:sp>
      <p:sp>
        <p:nvSpPr>
          <p:cNvPr id="9" name="Text 7"/>
          <p:cNvSpPr/>
          <p:nvPr/>
        </p:nvSpPr>
        <p:spPr>
          <a:xfrm>
            <a:off x="3630168" y="18013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Architecture and component interactions</a:t>
            </a:r>
            <a:endParaRPr lang="en-US" sz="840" dirty="0"/>
          </a:p>
        </p:txBody>
      </p:sp>
      <p:sp>
        <p:nvSpPr>
          <p:cNvPr id="10" name="Shape 8"/>
          <p:cNvSpPr/>
          <p:nvPr/>
        </p:nvSpPr>
        <p:spPr>
          <a:xfrm>
            <a:off x="6327648" y="12344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11" name="Text 9"/>
          <p:cNvSpPr/>
          <p:nvPr/>
        </p:nvSpPr>
        <p:spPr>
          <a:xfrm>
            <a:off x="6464808" y="1399032"/>
            <a:ext cx="2240280" cy="228600"/>
          </a:xfrm>
          <a:prstGeom prst="rect">
            <a:avLst/>
          </a:prstGeom>
          <a:noFill/>
          <a:ln/>
        </p:spPr>
        <p:txBody>
          <a:bodyPr wrap="square" lIns="0" tIns="0" rIns="0" bIns="0" rtlCol="0" anchor="ctr">
            <a:normAutofit/>
          </a:bodyPr>
          <a:lstStyle/>
          <a:p>
            <a:pPr marL="0" indent="0">
              <a:buNone/>
            </a:pPr>
            <a:r>
              <a:rPr lang="en-US" sz="1100" b="1" dirty="0">
                <a:solidFill>
                  <a:srgbClr val="FFB900"/>
                </a:solidFill>
              </a:rPr>
              <a:t>Live metrics</a:t>
            </a:r>
            <a:endParaRPr lang="en-US" sz="1100" dirty="0"/>
          </a:p>
        </p:txBody>
      </p:sp>
      <p:sp>
        <p:nvSpPr>
          <p:cNvPr id="12" name="Text 10"/>
          <p:cNvSpPr/>
          <p:nvPr/>
        </p:nvSpPr>
        <p:spPr>
          <a:xfrm>
            <a:off x="6464808" y="18013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Near-real-time activity and performance</a:t>
            </a:r>
            <a:endParaRPr lang="en-US" sz="840" dirty="0"/>
          </a:p>
        </p:txBody>
      </p:sp>
      <p:sp>
        <p:nvSpPr>
          <p:cNvPr id="13" name="Shape 11"/>
          <p:cNvSpPr/>
          <p:nvPr/>
        </p:nvSpPr>
        <p:spPr>
          <a:xfrm>
            <a:off x="9162288" y="12344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14" name="Text 12"/>
          <p:cNvSpPr/>
          <p:nvPr/>
        </p:nvSpPr>
        <p:spPr>
          <a:xfrm>
            <a:off x="9299448" y="1399032"/>
            <a:ext cx="2240280" cy="228600"/>
          </a:xfrm>
          <a:prstGeom prst="rect">
            <a:avLst/>
          </a:prstGeom>
          <a:noFill/>
          <a:ln/>
        </p:spPr>
        <p:txBody>
          <a:bodyPr wrap="square" lIns="0" tIns="0" rIns="0" bIns="0" rtlCol="0" anchor="ctr">
            <a:normAutofit/>
          </a:bodyPr>
          <a:lstStyle/>
          <a:p>
            <a:pPr marL="0" indent="0">
              <a:buNone/>
            </a:pPr>
            <a:r>
              <a:rPr lang="en-US" sz="1100" b="1" dirty="0">
                <a:solidFill>
                  <a:srgbClr val="8661C5"/>
                </a:solidFill>
              </a:rPr>
              <a:t>Performance view</a:t>
            </a:r>
            <a:endParaRPr lang="en-US" sz="1100" dirty="0"/>
          </a:p>
        </p:txBody>
      </p:sp>
      <p:sp>
        <p:nvSpPr>
          <p:cNvPr id="15" name="Text 13"/>
          <p:cNvSpPr/>
          <p:nvPr/>
        </p:nvSpPr>
        <p:spPr>
          <a:xfrm>
            <a:off x="9299448" y="18013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Request duration and bottlenecks</a:t>
            </a:r>
            <a:endParaRPr lang="en-US" sz="840" dirty="0"/>
          </a:p>
        </p:txBody>
      </p:sp>
      <p:sp>
        <p:nvSpPr>
          <p:cNvPr id="16" name="Shape 14"/>
          <p:cNvSpPr/>
          <p:nvPr/>
        </p:nvSpPr>
        <p:spPr>
          <a:xfrm>
            <a:off x="658368" y="32918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17" name="Text 15"/>
          <p:cNvSpPr/>
          <p:nvPr/>
        </p:nvSpPr>
        <p:spPr>
          <a:xfrm>
            <a:off x="795528" y="3456432"/>
            <a:ext cx="2240280" cy="228600"/>
          </a:xfrm>
          <a:prstGeom prst="rect">
            <a:avLst/>
          </a:prstGeom>
          <a:noFill/>
          <a:ln/>
        </p:spPr>
        <p:txBody>
          <a:bodyPr wrap="square" lIns="0" tIns="0" rIns="0" bIns="0" rtlCol="0" anchor="ctr">
            <a:normAutofit/>
          </a:bodyPr>
          <a:lstStyle/>
          <a:p>
            <a:pPr marL="0" indent="0">
              <a:buNone/>
            </a:pPr>
            <a:r>
              <a:rPr lang="en-US" sz="1100" b="1" dirty="0">
                <a:solidFill>
                  <a:srgbClr val="36C5F0"/>
                </a:solidFill>
              </a:rPr>
              <a:t>Failures view</a:t>
            </a:r>
            <a:endParaRPr lang="en-US" sz="1100" dirty="0"/>
          </a:p>
        </p:txBody>
      </p:sp>
      <p:sp>
        <p:nvSpPr>
          <p:cNvPr id="18" name="Text 16"/>
          <p:cNvSpPr/>
          <p:nvPr/>
        </p:nvSpPr>
        <p:spPr>
          <a:xfrm>
            <a:off x="795528" y="38587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Exceptions and failure hotspots</a:t>
            </a:r>
            <a:endParaRPr lang="en-US" sz="840" dirty="0"/>
          </a:p>
        </p:txBody>
      </p:sp>
      <p:sp>
        <p:nvSpPr>
          <p:cNvPr id="19" name="Shape 17"/>
          <p:cNvSpPr/>
          <p:nvPr/>
        </p:nvSpPr>
        <p:spPr>
          <a:xfrm>
            <a:off x="3493008" y="32918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20" name="Text 18"/>
          <p:cNvSpPr/>
          <p:nvPr/>
        </p:nvSpPr>
        <p:spPr>
          <a:xfrm>
            <a:off x="3630168" y="3456432"/>
            <a:ext cx="2240280" cy="228600"/>
          </a:xfrm>
          <a:prstGeom prst="rect">
            <a:avLst/>
          </a:prstGeom>
          <a:noFill/>
          <a:ln/>
        </p:spPr>
        <p:txBody>
          <a:bodyPr wrap="square" lIns="0" tIns="0" rIns="0" bIns="0" rtlCol="0" anchor="ctr">
            <a:normAutofit/>
          </a:bodyPr>
          <a:lstStyle/>
          <a:p>
            <a:pPr marL="0" indent="0">
              <a:buNone/>
            </a:pPr>
            <a:r>
              <a:rPr lang="en-US" sz="1100" b="1" dirty="0">
                <a:solidFill>
                  <a:srgbClr val="7FBA00"/>
                </a:solidFill>
              </a:rPr>
              <a:t>Logs / KQL</a:t>
            </a:r>
            <a:endParaRPr lang="en-US" sz="1100" dirty="0"/>
          </a:p>
        </p:txBody>
      </p:sp>
      <p:sp>
        <p:nvSpPr>
          <p:cNvPr id="21" name="Text 19"/>
          <p:cNvSpPr/>
          <p:nvPr/>
        </p:nvSpPr>
        <p:spPr>
          <a:xfrm>
            <a:off x="3630168" y="38587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Deep exploration across telemetry</a:t>
            </a:r>
            <a:endParaRPr lang="en-US" sz="840" dirty="0"/>
          </a:p>
        </p:txBody>
      </p:sp>
      <p:sp>
        <p:nvSpPr>
          <p:cNvPr id="22" name="Shape 20"/>
          <p:cNvSpPr/>
          <p:nvPr/>
        </p:nvSpPr>
        <p:spPr>
          <a:xfrm>
            <a:off x="6327648" y="32918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23" name="Text 21"/>
          <p:cNvSpPr/>
          <p:nvPr/>
        </p:nvSpPr>
        <p:spPr>
          <a:xfrm>
            <a:off x="6464808" y="3456432"/>
            <a:ext cx="2240280" cy="228600"/>
          </a:xfrm>
          <a:prstGeom prst="rect">
            <a:avLst/>
          </a:prstGeom>
          <a:noFill/>
          <a:ln/>
        </p:spPr>
        <p:txBody>
          <a:bodyPr wrap="square" lIns="0" tIns="0" rIns="0" bIns="0" rtlCol="0" anchor="ctr">
            <a:normAutofit/>
          </a:bodyPr>
          <a:lstStyle/>
          <a:p>
            <a:pPr marL="0" indent="0">
              <a:buNone/>
            </a:pPr>
            <a:r>
              <a:rPr lang="en-US" sz="1100" b="1" dirty="0">
                <a:solidFill>
                  <a:srgbClr val="FFB900"/>
                </a:solidFill>
              </a:rPr>
              <a:t>Alerts</a:t>
            </a:r>
            <a:endParaRPr lang="en-US" sz="1100" dirty="0"/>
          </a:p>
        </p:txBody>
      </p:sp>
      <p:sp>
        <p:nvSpPr>
          <p:cNvPr id="24" name="Text 22"/>
          <p:cNvSpPr/>
          <p:nvPr/>
        </p:nvSpPr>
        <p:spPr>
          <a:xfrm>
            <a:off x="6464808" y="38587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Proactive detection and notification</a:t>
            </a:r>
            <a:endParaRPr lang="en-US" sz="840" dirty="0"/>
          </a:p>
        </p:txBody>
      </p:sp>
      <p:sp>
        <p:nvSpPr>
          <p:cNvPr id="25" name="Shape 23"/>
          <p:cNvSpPr/>
          <p:nvPr/>
        </p:nvSpPr>
        <p:spPr>
          <a:xfrm>
            <a:off x="9162288" y="3291840"/>
            <a:ext cx="2514600" cy="1600200"/>
          </a:xfrm>
          <a:prstGeom prst="roundRect">
            <a:avLst>
              <a:gd name="adj" fmla="val 4571"/>
            </a:avLst>
          </a:prstGeom>
          <a:solidFill>
            <a:srgbClr val="172033"/>
          </a:solidFill>
          <a:ln w="12700">
            <a:solidFill>
              <a:srgbClr val="2A3D5E"/>
            </a:solidFill>
            <a:prstDash val="solid"/>
          </a:ln>
        </p:spPr>
        <p:txBody>
          <a:bodyPr/>
          <a:lstStyle/>
          <a:p>
            <a:endParaRPr lang="en-US"/>
          </a:p>
        </p:txBody>
      </p:sp>
      <p:sp>
        <p:nvSpPr>
          <p:cNvPr id="26" name="Text 24"/>
          <p:cNvSpPr/>
          <p:nvPr/>
        </p:nvSpPr>
        <p:spPr>
          <a:xfrm>
            <a:off x="9299448" y="3456432"/>
            <a:ext cx="2240280" cy="228600"/>
          </a:xfrm>
          <a:prstGeom prst="rect">
            <a:avLst/>
          </a:prstGeom>
          <a:noFill/>
          <a:ln/>
        </p:spPr>
        <p:txBody>
          <a:bodyPr wrap="square" lIns="0" tIns="0" rIns="0" bIns="0" rtlCol="0" anchor="ctr">
            <a:normAutofit/>
          </a:bodyPr>
          <a:lstStyle/>
          <a:p>
            <a:pPr marL="0" indent="0">
              <a:buNone/>
            </a:pPr>
            <a:r>
              <a:rPr lang="en-US" sz="1100" b="1" dirty="0">
                <a:solidFill>
                  <a:srgbClr val="8661C5"/>
                </a:solidFill>
              </a:rPr>
              <a:t>Profiler</a:t>
            </a:r>
            <a:endParaRPr lang="en-US" sz="1100" dirty="0"/>
          </a:p>
        </p:txBody>
      </p:sp>
      <p:sp>
        <p:nvSpPr>
          <p:cNvPr id="27" name="Text 25"/>
          <p:cNvSpPr/>
          <p:nvPr/>
        </p:nvSpPr>
        <p:spPr>
          <a:xfrm>
            <a:off x="9299448" y="3858768"/>
            <a:ext cx="2148840" cy="594360"/>
          </a:xfrm>
          <a:prstGeom prst="rect">
            <a:avLst/>
          </a:prstGeom>
          <a:noFill/>
          <a:ln/>
        </p:spPr>
        <p:txBody>
          <a:bodyPr wrap="square" lIns="381" tIns="381" rIns="381" bIns="381" rtlCol="0" anchor="ctr">
            <a:normAutofit/>
          </a:bodyPr>
          <a:lstStyle/>
          <a:p>
            <a:pPr marL="0" indent="0">
              <a:buNone/>
            </a:pPr>
            <a:r>
              <a:rPr lang="en-US" sz="840" dirty="0">
                <a:solidFill>
                  <a:srgbClr val="FFFFFF"/>
                </a:solidFill>
              </a:rPr>
              <a:t>CPU and memory triggered traces</a:t>
            </a:r>
            <a:endParaRPr lang="en-US" sz="840" dirty="0"/>
          </a:p>
        </p:txBody>
      </p:sp>
      <p:sp>
        <p:nvSpPr>
          <p:cNvPr id="28" name="Text 26"/>
          <p:cNvSpPr/>
          <p:nvPr/>
        </p:nvSpPr>
        <p:spPr>
          <a:xfrm>
            <a:off x="731520" y="5715000"/>
            <a:ext cx="10698480" cy="310896"/>
          </a:xfrm>
          <a:prstGeom prst="rect">
            <a:avLst/>
          </a:prstGeom>
          <a:noFill/>
          <a:ln/>
        </p:spPr>
        <p:txBody>
          <a:bodyPr wrap="square" rtlCol="0" anchor="ctr"/>
          <a:lstStyle/>
          <a:p>
            <a:pPr marL="0" indent="0" algn="ctr">
              <a:buNone/>
            </a:pPr>
            <a:r>
              <a:rPr lang="en-US" sz="1600" b="1" dirty="0">
                <a:solidFill>
                  <a:srgbClr val="FFFFFF"/>
                </a:solidFill>
              </a:rPr>
              <a:t>Use the right tool for the signal you need.</a:t>
            </a:r>
            <a:endParaRPr lang="en-US" sz="1600" dirty="0"/>
          </a:p>
        </p:txBody>
      </p:sp>
      <p:sp>
        <p:nvSpPr>
          <p:cNvPr id="29"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405aaeab2b.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4000"/>
            </a:srgbClr>
          </a:solidFill>
          <a:ln w="12700">
            <a:solidFill>
              <a:srgbClr val="000000">
                <a:alpha val="0"/>
              </a:srgbClr>
            </a:solidFill>
            <a:prstDash val="solid"/>
          </a:ln>
        </p:spPr>
        <p:txBody>
          <a:bodyPr/>
          <a:lstStyle/>
          <a:p>
            <a:endParaRPr lang="en-US"/>
          </a:p>
        </p:txBody>
      </p:sp>
      <p:sp>
        <p:nvSpPr>
          <p:cNvPr id="4" name="Text 1"/>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Where AI enters the performance loop</a:t>
            </a:r>
            <a:endParaRPr lang="en-US" sz="2400" dirty="0"/>
          </a:p>
        </p:txBody>
      </p:sp>
      <p:sp>
        <p:nvSpPr>
          <p:cNvPr id="5" name="Text 2"/>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AI can help analyze telemetry and turn data into engineering hypotheses.</a:t>
            </a:r>
            <a:endParaRPr lang="en-US" sz="950" dirty="0"/>
          </a:p>
        </p:txBody>
      </p:sp>
      <p:sp>
        <p:nvSpPr>
          <p:cNvPr id="6" name="Shape 3"/>
          <p:cNvSpPr/>
          <p:nvPr/>
        </p:nvSpPr>
        <p:spPr>
          <a:xfrm>
            <a:off x="594360" y="1325880"/>
            <a:ext cx="2926080" cy="4160520"/>
          </a:xfrm>
          <a:prstGeom prst="roundRect">
            <a:avLst>
              <a:gd name="adj" fmla="val 2500"/>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7" name="Shape 4"/>
          <p:cNvSpPr/>
          <p:nvPr/>
        </p:nvSpPr>
        <p:spPr>
          <a:xfrm>
            <a:off x="594360" y="1325880"/>
            <a:ext cx="45720" cy="4160520"/>
          </a:xfrm>
          <a:prstGeom prst="rect">
            <a:avLst/>
          </a:prstGeom>
          <a:solidFill>
            <a:srgbClr val="36C5F0"/>
          </a:solidFill>
          <a:ln w="12700">
            <a:solidFill>
              <a:srgbClr val="36C5F0"/>
            </a:solidFill>
            <a:prstDash val="solid"/>
          </a:ln>
        </p:spPr>
        <p:txBody>
          <a:bodyPr/>
          <a:lstStyle/>
          <a:p>
            <a:endParaRPr lang="en-US"/>
          </a:p>
        </p:txBody>
      </p:sp>
      <p:sp>
        <p:nvSpPr>
          <p:cNvPr id="8" name="Text 5"/>
          <p:cNvSpPr/>
          <p:nvPr/>
        </p:nvSpPr>
        <p:spPr>
          <a:xfrm>
            <a:off x="758952" y="1463040"/>
            <a:ext cx="2651760" cy="256032"/>
          </a:xfrm>
          <a:prstGeom prst="rect">
            <a:avLst/>
          </a:prstGeom>
          <a:noFill/>
          <a:ln/>
        </p:spPr>
        <p:txBody>
          <a:bodyPr wrap="square" lIns="0" tIns="0" rIns="0" bIns="0" rtlCol="0" anchor="ctr"/>
          <a:lstStyle/>
          <a:p>
            <a:pPr marL="0" indent="0">
              <a:buNone/>
            </a:pPr>
            <a:r>
              <a:rPr lang="en-US" sz="1200" b="1" dirty="0">
                <a:solidFill>
                  <a:srgbClr val="FFFFFF"/>
                </a:solidFill>
              </a:rPr>
              <a:t>Input to AI</a:t>
            </a:r>
            <a:endParaRPr lang="en-US" sz="1200" dirty="0"/>
          </a:p>
        </p:txBody>
      </p:sp>
      <p:sp>
        <p:nvSpPr>
          <p:cNvPr id="9" name="Text 6"/>
          <p:cNvSpPr/>
          <p:nvPr/>
        </p:nvSpPr>
        <p:spPr>
          <a:xfrm>
            <a:off x="758952" y="1828800"/>
            <a:ext cx="2615184" cy="356616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Telemetry: metrics, logs and traces.</a:t>
            </a:r>
            <a:endParaRPr lang="en-US" sz="870" dirty="0"/>
          </a:p>
          <a:p>
            <a:pPr marL="0" indent="0">
              <a:buNone/>
            </a:pPr>
            <a:r>
              <a:rPr lang="en-US" sz="870" dirty="0">
                <a:solidFill>
                  <a:srgbClr val="A7B4C8"/>
                </a:solidFill>
              </a:rPr>
              <a:t>• Profiles and diagnostic snapshots.</a:t>
            </a:r>
            <a:endParaRPr lang="en-US" sz="870" dirty="0"/>
          </a:p>
          <a:p>
            <a:pPr marL="0" indent="0">
              <a:buNone/>
            </a:pPr>
            <a:r>
              <a:rPr lang="en-US" sz="870" dirty="0">
                <a:solidFill>
                  <a:srgbClr val="A7B4C8"/>
                </a:solidFill>
              </a:rPr>
              <a:t>• Architecture context and code context.</a:t>
            </a:r>
            <a:endParaRPr lang="en-US" sz="870" dirty="0"/>
          </a:p>
        </p:txBody>
      </p:sp>
      <p:sp>
        <p:nvSpPr>
          <p:cNvPr id="10" name="Shape 7"/>
          <p:cNvSpPr/>
          <p:nvPr/>
        </p:nvSpPr>
        <p:spPr>
          <a:xfrm>
            <a:off x="3794760" y="1325880"/>
            <a:ext cx="2926080" cy="4160520"/>
          </a:xfrm>
          <a:prstGeom prst="roundRect">
            <a:avLst>
              <a:gd name="adj" fmla="val 2500"/>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1" name="Shape 8"/>
          <p:cNvSpPr/>
          <p:nvPr/>
        </p:nvSpPr>
        <p:spPr>
          <a:xfrm>
            <a:off x="3794760" y="1325880"/>
            <a:ext cx="45720" cy="4160520"/>
          </a:xfrm>
          <a:prstGeom prst="rect">
            <a:avLst/>
          </a:prstGeom>
          <a:solidFill>
            <a:srgbClr val="8661C5"/>
          </a:solidFill>
          <a:ln w="12700">
            <a:solidFill>
              <a:srgbClr val="8661C5"/>
            </a:solidFill>
            <a:prstDash val="solid"/>
          </a:ln>
        </p:spPr>
        <p:txBody>
          <a:bodyPr/>
          <a:lstStyle/>
          <a:p>
            <a:endParaRPr lang="en-US"/>
          </a:p>
        </p:txBody>
      </p:sp>
      <p:sp>
        <p:nvSpPr>
          <p:cNvPr id="12" name="Text 9"/>
          <p:cNvSpPr/>
          <p:nvPr/>
        </p:nvSpPr>
        <p:spPr>
          <a:xfrm>
            <a:off x="3959352" y="1463040"/>
            <a:ext cx="2651760" cy="256032"/>
          </a:xfrm>
          <a:prstGeom prst="rect">
            <a:avLst/>
          </a:prstGeom>
          <a:noFill/>
          <a:ln/>
        </p:spPr>
        <p:txBody>
          <a:bodyPr wrap="square" lIns="0" tIns="0" rIns="0" bIns="0" rtlCol="0" anchor="ctr"/>
          <a:lstStyle/>
          <a:p>
            <a:pPr marL="0" indent="0">
              <a:buNone/>
            </a:pPr>
            <a:r>
              <a:rPr lang="en-US" sz="1200" b="1" dirty="0">
                <a:solidFill>
                  <a:srgbClr val="FFFFFF"/>
                </a:solidFill>
              </a:rPr>
              <a:t>AI analysis</a:t>
            </a:r>
            <a:endParaRPr lang="en-US" sz="1200" dirty="0"/>
          </a:p>
        </p:txBody>
      </p:sp>
      <p:sp>
        <p:nvSpPr>
          <p:cNvPr id="13" name="Text 10"/>
          <p:cNvSpPr/>
          <p:nvPr/>
        </p:nvSpPr>
        <p:spPr>
          <a:xfrm>
            <a:off x="3959352" y="1828800"/>
            <a:ext cx="2615184" cy="356616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Pattern detection.</a:t>
            </a:r>
            <a:endParaRPr lang="en-US" sz="870" dirty="0"/>
          </a:p>
          <a:p>
            <a:pPr marL="0" indent="0">
              <a:buNone/>
            </a:pPr>
            <a:r>
              <a:rPr lang="en-US" sz="870" dirty="0">
                <a:solidFill>
                  <a:srgbClr val="A7B4C8"/>
                </a:solidFill>
              </a:rPr>
              <a:t>• Anomaly explanation.</a:t>
            </a:r>
            <a:endParaRPr lang="en-US" sz="870" dirty="0"/>
          </a:p>
          <a:p>
            <a:pPr marL="0" indent="0">
              <a:buNone/>
            </a:pPr>
            <a:r>
              <a:rPr lang="en-US" sz="870" dirty="0">
                <a:solidFill>
                  <a:srgbClr val="A7B4C8"/>
                </a:solidFill>
              </a:rPr>
              <a:t>• Bottleneck prioritization.</a:t>
            </a:r>
            <a:endParaRPr lang="en-US" sz="870" dirty="0"/>
          </a:p>
          <a:p>
            <a:pPr marL="0" indent="0">
              <a:buNone/>
            </a:pPr>
            <a:r>
              <a:rPr lang="en-US" sz="870" dirty="0">
                <a:solidFill>
                  <a:srgbClr val="A7B4C8"/>
                </a:solidFill>
              </a:rPr>
              <a:t>• Suggested experiments.</a:t>
            </a:r>
            <a:endParaRPr lang="en-US" sz="870" dirty="0"/>
          </a:p>
        </p:txBody>
      </p:sp>
      <p:sp>
        <p:nvSpPr>
          <p:cNvPr id="14" name="Shape 11"/>
          <p:cNvSpPr/>
          <p:nvPr/>
        </p:nvSpPr>
        <p:spPr>
          <a:xfrm>
            <a:off x="6995160" y="1325880"/>
            <a:ext cx="4023360" cy="4160520"/>
          </a:xfrm>
          <a:prstGeom prst="roundRect">
            <a:avLst>
              <a:gd name="adj" fmla="val 1818"/>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5" name="Shape 12"/>
          <p:cNvSpPr/>
          <p:nvPr/>
        </p:nvSpPr>
        <p:spPr>
          <a:xfrm>
            <a:off x="6995160" y="1325880"/>
            <a:ext cx="45720" cy="4160520"/>
          </a:xfrm>
          <a:prstGeom prst="rect">
            <a:avLst/>
          </a:prstGeom>
          <a:solidFill>
            <a:srgbClr val="7FBA00"/>
          </a:solidFill>
          <a:ln w="12700">
            <a:solidFill>
              <a:srgbClr val="7FBA00"/>
            </a:solidFill>
            <a:prstDash val="solid"/>
          </a:ln>
        </p:spPr>
        <p:txBody>
          <a:bodyPr/>
          <a:lstStyle/>
          <a:p>
            <a:endParaRPr lang="en-US"/>
          </a:p>
        </p:txBody>
      </p:sp>
      <p:sp>
        <p:nvSpPr>
          <p:cNvPr id="16" name="Text 13"/>
          <p:cNvSpPr/>
          <p:nvPr/>
        </p:nvSpPr>
        <p:spPr>
          <a:xfrm>
            <a:off x="7159752" y="1463040"/>
            <a:ext cx="3749040" cy="256032"/>
          </a:xfrm>
          <a:prstGeom prst="rect">
            <a:avLst/>
          </a:prstGeom>
          <a:noFill/>
          <a:ln/>
        </p:spPr>
        <p:txBody>
          <a:bodyPr wrap="square" lIns="0" tIns="0" rIns="0" bIns="0" rtlCol="0" anchor="ctr"/>
          <a:lstStyle/>
          <a:p>
            <a:pPr marL="0" indent="0">
              <a:buNone/>
            </a:pPr>
            <a:r>
              <a:rPr lang="en-US" sz="1200" b="1" dirty="0">
                <a:solidFill>
                  <a:srgbClr val="FFFFFF"/>
                </a:solidFill>
              </a:rPr>
              <a:t>Human-in-the-loop result</a:t>
            </a:r>
            <a:endParaRPr lang="en-US" sz="1200" dirty="0"/>
          </a:p>
        </p:txBody>
      </p:sp>
      <p:sp>
        <p:nvSpPr>
          <p:cNvPr id="17" name="Text 14"/>
          <p:cNvSpPr/>
          <p:nvPr/>
        </p:nvSpPr>
        <p:spPr>
          <a:xfrm>
            <a:off x="7159752" y="1828800"/>
            <a:ext cx="3712464" cy="356616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Treat recommendations as hypotheses.</a:t>
            </a:r>
            <a:endParaRPr lang="en-US" sz="870" dirty="0"/>
          </a:p>
          <a:p>
            <a:pPr marL="0" indent="0">
              <a:buNone/>
            </a:pPr>
            <a:r>
              <a:rPr lang="en-US" sz="870" dirty="0">
                <a:solidFill>
                  <a:srgbClr val="A7B4C8"/>
                </a:solidFill>
              </a:rPr>
              <a:t>• Review code and architecture tradeoffs.</a:t>
            </a:r>
            <a:endParaRPr lang="en-US" sz="870" dirty="0"/>
          </a:p>
          <a:p>
            <a:pPr marL="0" indent="0">
              <a:buNone/>
            </a:pPr>
            <a:r>
              <a:rPr lang="en-US" sz="870" dirty="0">
                <a:solidFill>
                  <a:srgbClr val="A7B4C8"/>
                </a:solidFill>
              </a:rPr>
              <a:t>• Validate with load tests and production telemetry.</a:t>
            </a:r>
            <a:endParaRPr lang="en-US" sz="87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09201012ea.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5000"/>
            </a:srgbClr>
          </a:solidFill>
          <a:ln w="12700">
            <a:solidFill>
              <a:srgbClr val="000000">
                <a:alpha val="0"/>
              </a:srgbClr>
            </a:solidFill>
            <a:prstDash val="solid"/>
          </a:ln>
        </p:spPr>
        <p:txBody>
          <a:bodyPr/>
          <a:lstStyle/>
          <a:p>
            <a:endParaRPr lang="en-US"/>
          </a:p>
        </p:txBody>
      </p:sp>
      <p:sp>
        <p:nvSpPr>
          <p:cNvPr id="4" name="Text 1"/>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Code-level optimization: from hot path to pull request</a:t>
            </a:r>
            <a:endParaRPr lang="en-US" sz="2400" dirty="0"/>
          </a:p>
        </p:txBody>
      </p:sp>
      <p:sp>
        <p:nvSpPr>
          <p:cNvPr id="5" name="Text 2"/>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GitHub Copilot can help developers reason about code changes when given enough context.</a:t>
            </a:r>
            <a:endParaRPr lang="en-US" sz="950" dirty="0"/>
          </a:p>
        </p:txBody>
      </p:sp>
      <p:sp>
        <p:nvSpPr>
          <p:cNvPr id="6" name="Shape 3"/>
          <p:cNvSpPr/>
          <p:nvPr/>
        </p:nvSpPr>
        <p:spPr>
          <a:xfrm>
            <a:off x="594360" y="1234440"/>
            <a:ext cx="3511296" cy="4434840"/>
          </a:xfrm>
          <a:prstGeom prst="roundRect">
            <a:avLst>
              <a:gd name="adj" fmla="val 2083"/>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7" name="Shape 4"/>
          <p:cNvSpPr/>
          <p:nvPr/>
        </p:nvSpPr>
        <p:spPr>
          <a:xfrm>
            <a:off x="594360" y="1234440"/>
            <a:ext cx="45720" cy="4434840"/>
          </a:xfrm>
          <a:prstGeom prst="rect">
            <a:avLst/>
          </a:prstGeom>
          <a:solidFill>
            <a:srgbClr val="FFB900"/>
          </a:solidFill>
          <a:ln w="12700">
            <a:solidFill>
              <a:srgbClr val="FFB900"/>
            </a:solidFill>
            <a:prstDash val="solid"/>
          </a:ln>
        </p:spPr>
        <p:txBody>
          <a:bodyPr/>
          <a:lstStyle/>
          <a:p>
            <a:endParaRPr lang="en-US"/>
          </a:p>
        </p:txBody>
      </p:sp>
      <p:sp>
        <p:nvSpPr>
          <p:cNvPr id="8" name="Text 5"/>
          <p:cNvSpPr/>
          <p:nvPr/>
        </p:nvSpPr>
        <p:spPr>
          <a:xfrm>
            <a:off x="758952" y="1371600"/>
            <a:ext cx="3236976" cy="256032"/>
          </a:xfrm>
          <a:prstGeom prst="rect">
            <a:avLst/>
          </a:prstGeom>
          <a:noFill/>
          <a:ln/>
        </p:spPr>
        <p:txBody>
          <a:bodyPr wrap="square" lIns="0" tIns="0" rIns="0" bIns="0" rtlCol="0" anchor="ctr"/>
          <a:lstStyle/>
          <a:p>
            <a:pPr marL="0" indent="0">
              <a:buNone/>
            </a:pPr>
            <a:r>
              <a:rPr lang="en-US" sz="1200" b="1" dirty="0">
                <a:solidFill>
                  <a:srgbClr val="FFFFFF"/>
                </a:solidFill>
              </a:rPr>
              <a:t>1. Identify the hot path</a:t>
            </a:r>
            <a:endParaRPr lang="en-US" sz="1200" dirty="0"/>
          </a:p>
        </p:txBody>
      </p:sp>
      <p:sp>
        <p:nvSpPr>
          <p:cNvPr id="9" name="Text 6"/>
          <p:cNvSpPr/>
          <p:nvPr/>
        </p:nvSpPr>
        <p:spPr>
          <a:xfrm>
            <a:off x="758952" y="1737360"/>
            <a:ext cx="3200400" cy="384048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Profiler points to methods, functions and call stacks.</a:t>
            </a:r>
            <a:endParaRPr lang="en-US" sz="870" dirty="0"/>
          </a:p>
          <a:p>
            <a:pPr marL="0" indent="0">
              <a:buNone/>
            </a:pPr>
            <a:r>
              <a:rPr lang="en-US" sz="870" dirty="0">
                <a:solidFill>
                  <a:srgbClr val="A7B4C8"/>
                </a:solidFill>
              </a:rPr>
              <a:t>• Code Optimizations narrows down bottlenecks and provides code-level recommendations.</a:t>
            </a:r>
            <a:endParaRPr lang="en-US" sz="870" dirty="0"/>
          </a:p>
        </p:txBody>
      </p:sp>
      <p:sp>
        <p:nvSpPr>
          <p:cNvPr id="10" name="Shape 7"/>
          <p:cNvSpPr/>
          <p:nvPr/>
        </p:nvSpPr>
        <p:spPr>
          <a:xfrm>
            <a:off x="4343400" y="1234440"/>
            <a:ext cx="3511296" cy="4434840"/>
          </a:xfrm>
          <a:prstGeom prst="roundRect">
            <a:avLst>
              <a:gd name="adj" fmla="val 2083"/>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1" name="Shape 8"/>
          <p:cNvSpPr/>
          <p:nvPr/>
        </p:nvSpPr>
        <p:spPr>
          <a:xfrm>
            <a:off x="4343400" y="1234440"/>
            <a:ext cx="45720" cy="4434840"/>
          </a:xfrm>
          <a:prstGeom prst="rect">
            <a:avLst/>
          </a:prstGeom>
          <a:solidFill>
            <a:srgbClr val="36C5F0"/>
          </a:solidFill>
          <a:ln w="12700">
            <a:solidFill>
              <a:srgbClr val="36C5F0"/>
            </a:solidFill>
            <a:prstDash val="solid"/>
          </a:ln>
        </p:spPr>
        <p:txBody>
          <a:bodyPr/>
          <a:lstStyle/>
          <a:p>
            <a:endParaRPr lang="en-US"/>
          </a:p>
        </p:txBody>
      </p:sp>
      <p:sp>
        <p:nvSpPr>
          <p:cNvPr id="12" name="Text 9"/>
          <p:cNvSpPr/>
          <p:nvPr/>
        </p:nvSpPr>
        <p:spPr>
          <a:xfrm>
            <a:off x="4507992" y="1371600"/>
            <a:ext cx="3236976" cy="256032"/>
          </a:xfrm>
          <a:prstGeom prst="rect">
            <a:avLst/>
          </a:prstGeom>
          <a:noFill/>
          <a:ln/>
        </p:spPr>
        <p:txBody>
          <a:bodyPr wrap="square" lIns="0" tIns="0" rIns="0" bIns="0" rtlCol="0" anchor="ctr"/>
          <a:lstStyle/>
          <a:p>
            <a:pPr marL="0" indent="0">
              <a:buNone/>
            </a:pPr>
            <a:r>
              <a:rPr lang="en-US" sz="1200" b="1" dirty="0">
                <a:solidFill>
                  <a:srgbClr val="FFFFFF"/>
                </a:solidFill>
              </a:rPr>
              <a:t>2. Bring context to Copilot</a:t>
            </a:r>
            <a:endParaRPr lang="en-US" sz="1200" dirty="0"/>
          </a:p>
        </p:txBody>
      </p:sp>
      <p:sp>
        <p:nvSpPr>
          <p:cNvPr id="13" name="Text 10"/>
          <p:cNvSpPr/>
          <p:nvPr/>
        </p:nvSpPr>
        <p:spPr>
          <a:xfrm>
            <a:off x="4507992" y="1737360"/>
            <a:ext cx="3200400" cy="384048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Explain the method, workload, SLO and profiling evidence.</a:t>
            </a:r>
            <a:endParaRPr lang="en-US" sz="870" dirty="0"/>
          </a:p>
          <a:p>
            <a:pPr marL="0" indent="0">
              <a:buNone/>
            </a:pPr>
            <a:r>
              <a:rPr lang="en-US" sz="870" dirty="0">
                <a:solidFill>
                  <a:srgbClr val="A7B4C8"/>
                </a:solidFill>
              </a:rPr>
              <a:t>• Ask for alternatives with complexity, allocation and reliability tradeoffs.</a:t>
            </a:r>
            <a:endParaRPr lang="en-US" sz="870" dirty="0"/>
          </a:p>
        </p:txBody>
      </p:sp>
      <p:sp>
        <p:nvSpPr>
          <p:cNvPr id="14" name="Shape 11"/>
          <p:cNvSpPr/>
          <p:nvPr/>
        </p:nvSpPr>
        <p:spPr>
          <a:xfrm>
            <a:off x="8092440" y="1234440"/>
            <a:ext cx="3511296" cy="4434840"/>
          </a:xfrm>
          <a:prstGeom prst="roundRect">
            <a:avLst>
              <a:gd name="adj" fmla="val 2083"/>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5" name="Shape 12"/>
          <p:cNvSpPr/>
          <p:nvPr/>
        </p:nvSpPr>
        <p:spPr>
          <a:xfrm>
            <a:off x="8092440" y="1234440"/>
            <a:ext cx="45720" cy="4434840"/>
          </a:xfrm>
          <a:prstGeom prst="rect">
            <a:avLst/>
          </a:prstGeom>
          <a:solidFill>
            <a:srgbClr val="7FBA00"/>
          </a:solidFill>
          <a:ln w="12700">
            <a:solidFill>
              <a:srgbClr val="7FBA00"/>
            </a:solidFill>
            <a:prstDash val="solid"/>
          </a:ln>
        </p:spPr>
        <p:txBody>
          <a:bodyPr/>
          <a:lstStyle/>
          <a:p>
            <a:endParaRPr lang="en-US"/>
          </a:p>
        </p:txBody>
      </p:sp>
      <p:sp>
        <p:nvSpPr>
          <p:cNvPr id="16" name="Text 13"/>
          <p:cNvSpPr/>
          <p:nvPr/>
        </p:nvSpPr>
        <p:spPr>
          <a:xfrm>
            <a:off x="8257032" y="1371600"/>
            <a:ext cx="3236976" cy="256032"/>
          </a:xfrm>
          <a:prstGeom prst="rect">
            <a:avLst/>
          </a:prstGeom>
          <a:noFill/>
          <a:ln/>
        </p:spPr>
        <p:txBody>
          <a:bodyPr wrap="square" lIns="0" tIns="0" rIns="0" bIns="0" rtlCol="0" anchor="ctr"/>
          <a:lstStyle/>
          <a:p>
            <a:pPr marL="0" indent="0">
              <a:buNone/>
            </a:pPr>
            <a:r>
              <a:rPr lang="en-US" sz="1200" b="1" dirty="0">
                <a:solidFill>
                  <a:srgbClr val="FFFFFF"/>
                </a:solidFill>
              </a:rPr>
              <a:t>3. Validate the change</a:t>
            </a:r>
            <a:endParaRPr lang="en-US" sz="1200" dirty="0"/>
          </a:p>
        </p:txBody>
      </p:sp>
      <p:sp>
        <p:nvSpPr>
          <p:cNvPr id="17" name="Text 14"/>
          <p:cNvSpPr/>
          <p:nvPr/>
        </p:nvSpPr>
        <p:spPr>
          <a:xfrm>
            <a:off x="8257032" y="1737360"/>
            <a:ext cx="3200400" cy="384048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Run tests and benchmark before/after.</a:t>
            </a:r>
            <a:endParaRPr lang="en-US" sz="870" dirty="0"/>
          </a:p>
          <a:p>
            <a:pPr marL="0" indent="0">
              <a:buNone/>
            </a:pPr>
            <a:r>
              <a:rPr lang="en-US" sz="870" dirty="0">
                <a:solidFill>
                  <a:srgbClr val="A7B4C8"/>
                </a:solidFill>
              </a:rPr>
              <a:t>• Deploy safely and monitor the same signals again.</a:t>
            </a:r>
            <a:endParaRPr lang="en-US" sz="87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b02549d9e2.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2000"/>
            </a:srgbClr>
          </a:solidFill>
          <a:ln w="12700">
            <a:solidFill>
              <a:srgbClr val="000000">
                <a:alpha val="0"/>
              </a:srgbClr>
            </a:solidFill>
            <a:prstDash val="solid"/>
          </a:ln>
        </p:spPr>
        <p:txBody>
          <a:bodyPr/>
          <a:lstStyle/>
          <a:p>
            <a:endParaRPr lang="en-US"/>
          </a:p>
        </p:txBody>
      </p:sp>
      <p:sp>
        <p:nvSpPr>
          <p:cNvPr id="4" name="Text 1"/>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When metrics are not enough: profiles and memory dumps</a:t>
            </a:r>
            <a:endParaRPr lang="en-US" sz="2400" dirty="0"/>
          </a:p>
        </p:txBody>
      </p:sp>
      <p:sp>
        <p:nvSpPr>
          <p:cNvPr id="5" name="Text 2"/>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Deep diagnostics reveal what is consuming CPU or keeping memory alive.</a:t>
            </a:r>
            <a:endParaRPr lang="en-US" sz="950" dirty="0"/>
          </a:p>
        </p:txBody>
      </p:sp>
      <p:sp>
        <p:nvSpPr>
          <p:cNvPr id="6" name="Shape 3"/>
          <p:cNvSpPr/>
          <p:nvPr/>
        </p:nvSpPr>
        <p:spPr>
          <a:xfrm>
            <a:off x="594360" y="1234440"/>
            <a:ext cx="3154680" cy="4434840"/>
          </a:xfrm>
          <a:prstGeom prst="roundRect">
            <a:avLst>
              <a:gd name="adj" fmla="val 2319"/>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7" name="Shape 4"/>
          <p:cNvSpPr/>
          <p:nvPr/>
        </p:nvSpPr>
        <p:spPr>
          <a:xfrm>
            <a:off x="594360" y="1234440"/>
            <a:ext cx="45720" cy="4434840"/>
          </a:xfrm>
          <a:prstGeom prst="rect">
            <a:avLst/>
          </a:prstGeom>
          <a:solidFill>
            <a:srgbClr val="FFB900"/>
          </a:solidFill>
          <a:ln w="12700">
            <a:solidFill>
              <a:srgbClr val="FFB900"/>
            </a:solidFill>
            <a:prstDash val="solid"/>
          </a:ln>
        </p:spPr>
        <p:txBody>
          <a:bodyPr/>
          <a:lstStyle/>
          <a:p>
            <a:endParaRPr lang="en-US"/>
          </a:p>
        </p:txBody>
      </p:sp>
      <p:sp>
        <p:nvSpPr>
          <p:cNvPr id="8" name="Text 5"/>
          <p:cNvSpPr/>
          <p:nvPr/>
        </p:nvSpPr>
        <p:spPr>
          <a:xfrm>
            <a:off x="758952" y="1371600"/>
            <a:ext cx="2880360" cy="256032"/>
          </a:xfrm>
          <a:prstGeom prst="rect">
            <a:avLst/>
          </a:prstGeom>
          <a:noFill/>
          <a:ln/>
        </p:spPr>
        <p:txBody>
          <a:bodyPr wrap="square" lIns="0" tIns="0" rIns="0" bIns="0" rtlCol="0" anchor="ctr"/>
          <a:lstStyle/>
          <a:p>
            <a:pPr marL="0" indent="0">
              <a:buNone/>
            </a:pPr>
            <a:r>
              <a:rPr lang="en-US" sz="1200" b="1" dirty="0">
                <a:solidFill>
                  <a:srgbClr val="FFFFFF"/>
                </a:solidFill>
              </a:rPr>
              <a:t>CPU profiling</a:t>
            </a:r>
            <a:endParaRPr lang="en-US" sz="1200" dirty="0"/>
          </a:p>
        </p:txBody>
      </p:sp>
      <p:sp>
        <p:nvSpPr>
          <p:cNvPr id="9" name="Text 6"/>
          <p:cNvSpPr/>
          <p:nvPr/>
        </p:nvSpPr>
        <p:spPr>
          <a:xfrm>
            <a:off x="758952" y="1737360"/>
            <a:ext cx="2843784" cy="384048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Find expensive methods and call chains.</a:t>
            </a:r>
            <a:endParaRPr lang="en-US" sz="870" dirty="0"/>
          </a:p>
          <a:p>
            <a:pPr marL="0" indent="0">
              <a:buNone/>
            </a:pPr>
            <a:r>
              <a:rPr lang="en-US" sz="870" dirty="0">
                <a:solidFill>
                  <a:srgbClr val="A7B4C8"/>
                </a:solidFill>
              </a:rPr>
              <a:t>• Compare before/after or date-to-date regressions.</a:t>
            </a:r>
            <a:endParaRPr lang="en-US" sz="870" dirty="0"/>
          </a:p>
          <a:p>
            <a:pPr marL="0" indent="0">
              <a:buNone/>
            </a:pPr>
            <a:r>
              <a:rPr lang="en-US" sz="870" dirty="0">
                <a:solidFill>
                  <a:srgbClr val="A7B4C8"/>
                </a:solidFill>
              </a:rPr>
              <a:t>• Use samples to guide code inspection.</a:t>
            </a:r>
            <a:endParaRPr lang="en-US" sz="870" dirty="0"/>
          </a:p>
        </p:txBody>
      </p:sp>
      <p:sp>
        <p:nvSpPr>
          <p:cNvPr id="10" name="Shape 7"/>
          <p:cNvSpPr/>
          <p:nvPr/>
        </p:nvSpPr>
        <p:spPr>
          <a:xfrm>
            <a:off x="3977640" y="1234440"/>
            <a:ext cx="3154680" cy="4434840"/>
          </a:xfrm>
          <a:prstGeom prst="roundRect">
            <a:avLst>
              <a:gd name="adj" fmla="val 2319"/>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1" name="Shape 8"/>
          <p:cNvSpPr/>
          <p:nvPr/>
        </p:nvSpPr>
        <p:spPr>
          <a:xfrm>
            <a:off x="3977640" y="1234440"/>
            <a:ext cx="45720" cy="4434840"/>
          </a:xfrm>
          <a:prstGeom prst="rect">
            <a:avLst/>
          </a:prstGeom>
          <a:solidFill>
            <a:srgbClr val="8661C5"/>
          </a:solidFill>
          <a:ln w="12700">
            <a:solidFill>
              <a:srgbClr val="8661C5"/>
            </a:solidFill>
            <a:prstDash val="solid"/>
          </a:ln>
        </p:spPr>
        <p:txBody>
          <a:bodyPr/>
          <a:lstStyle/>
          <a:p>
            <a:endParaRPr lang="en-US"/>
          </a:p>
        </p:txBody>
      </p:sp>
      <p:sp>
        <p:nvSpPr>
          <p:cNvPr id="12" name="Text 9"/>
          <p:cNvSpPr/>
          <p:nvPr/>
        </p:nvSpPr>
        <p:spPr>
          <a:xfrm>
            <a:off x="4142232" y="1371600"/>
            <a:ext cx="2880360" cy="256032"/>
          </a:xfrm>
          <a:prstGeom prst="rect">
            <a:avLst/>
          </a:prstGeom>
          <a:noFill/>
          <a:ln/>
        </p:spPr>
        <p:txBody>
          <a:bodyPr wrap="square" lIns="0" tIns="0" rIns="0" bIns="0" rtlCol="0" anchor="ctr"/>
          <a:lstStyle/>
          <a:p>
            <a:pPr marL="0" indent="0">
              <a:buNone/>
            </a:pPr>
            <a:r>
              <a:rPr lang="en-US" sz="1200" b="1" dirty="0">
                <a:solidFill>
                  <a:srgbClr val="FFFFFF"/>
                </a:solidFill>
              </a:rPr>
              <a:t>Memory analysis</a:t>
            </a:r>
            <a:endParaRPr lang="en-US" sz="1200" dirty="0"/>
          </a:p>
        </p:txBody>
      </p:sp>
      <p:sp>
        <p:nvSpPr>
          <p:cNvPr id="13" name="Text 10"/>
          <p:cNvSpPr/>
          <p:nvPr/>
        </p:nvSpPr>
        <p:spPr>
          <a:xfrm>
            <a:off x="4142232" y="1737360"/>
            <a:ext cx="2843784" cy="384048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Look for allocation spikes and retained objects.</a:t>
            </a:r>
            <a:endParaRPr lang="en-US" sz="870" dirty="0"/>
          </a:p>
          <a:p>
            <a:pPr marL="0" indent="0">
              <a:buNone/>
            </a:pPr>
            <a:r>
              <a:rPr lang="en-US" sz="870" dirty="0">
                <a:solidFill>
                  <a:srgbClr val="A7B4C8"/>
                </a:solidFill>
              </a:rPr>
              <a:t>• Understand roots that keep graphs alive.</a:t>
            </a:r>
            <a:endParaRPr lang="en-US" sz="870" dirty="0"/>
          </a:p>
          <a:p>
            <a:pPr marL="0" indent="0">
              <a:buNone/>
            </a:pPr>
            <a:r>
              <a:rPr lang="en-US" sz="870" dirty="0">
                <a:solidFill>
                  <a:srgbClr val="A7B4C8"/>
                </a:solidFill>
              </a:rPr>
              <a:t>• Reduce large object graphs or avoid materialization.</a:t>
            </a:r>
            <a:endParaRPr lang="en-US" sz="870" dirty="0"/>
          </a:p>
        </p:txBody>
      </p:sp>
      <p:sp>
        <p:nvSpPr>
          <p:cNvPr id="14" name="Shape 11"/>
          <p:cNvSpPr/>
          <p:nvPr/>
        </p:nvSpPr>
        <p:spPr>
          <a:xfrm>
            <a:off x="7360920" y="1234440"/>
            <a:ext cx="4160520" cy="4434840"/>
          </a:xfrm>
          <a:prstGeom prst="roundRect">
            <a:avLst>
              <a:gd name="adj" fmla="val 1758"/>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5" name="Shape 12"/>
          <p:cNvSpPr/>
          <p:nvPr/>
        </p:nvSpPr>
        <p:spPr>
          <a:xfrm>
            <a:off x="7360920" y="1234440"/>
            <a:ext cx="45720" cy="4434840"/>
          </a:xfrm>
          <a:prstGeom prst="rect">
            <a:avLst/>
          </a:prstGeom>
          <a:solidFill>
            <a:srgbClr val="7FBA00"/>
          </a:solidFill>
          <a:ln w="12700">
            <a:solidFill>
              <a:srgbClr val="7FBA00"/>
            </a:solidFill>
            <a:prstDash val="solid"/>
          </a:ln>
        </p:spPr>
        <p:txBody>
          <a:bodyPr/>
          <a:lstStyle/>
          <a:p>
            <a:endParaRPr lang="en-US"/>
          </a:p>
        </p:txBody>
      </p:sp>
      <p:sp>
        <p:nvSpPr>
          <p:cNvPr id="16" name="Text 13"/>
          <p:cNvSpPr/>
          <p:nvPr/>
        </p:nvSpPr>
        <p:spPr>
          <a:xfrm>
            <a:off x="7525512" y="1371600"/>
            <a:ext cx="3886200" cy="256032"/>
          </a:xfrm>
          <a:prstGeom prst="rect">
            <a:avLst/>
          </a:prstGeom>
          <a:noFill/>
          <a:ln/>
        </p:spPr>
        <p:txBody>
          <a:bodyPr wrap="square" lIns="0" tIns="0" rIns="0" bIns="0" rtlCol="0" anchor="ctr"/>
          <a:lstStyle/>
          <a:p>
            <a:pPr marL="0" indent="0">
              <a:buNone/>
            </a:pPr>
            <a:r>
              <a:rPr lang="en-US" sz="1200" b="1" dirty="0">
                <a:solidFill>
                  <a:srgbClr val="FFFFFF"/>
                </a:solidFill>
              </a:rPr>
              <a:t>AI-assisted diagnostics</a:t>
            </a:r>
            <a:endParaRPr lang="en-US" sz="1200" dirty="0"/>
          </a:p>
        </p:txBody>
      </p:sp>
      <p:sp>
        <p:nvSpPr>
          <p:cNvPr id="17" name="Text 14"/>
          <p:cNvSpPr/>
          <p:nvPr/>
        </p:nvSpPr>
        <p:spPr>
          <a:xfrm>
            <a:off x="7525512" y="1737360"/>
            <a:ext cx="3849624" cy="384048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AI can summarize patterns in profiler/dump evidence.</a:t>
            </a:r>
            <a:endParaRPr lang="en-US" sz="870" dirty="0"/>
          </a:p>
          <a:p>
            <a:pPr marL="0" indent="0">
              <a:buNone/>
            </a:pPr>
            <a:r>
              <a:rPr lang="en-US" sz="870" dirty="0">
                <a:solidFill>
                  <a:srgbClr val="A7B4C8"/>
                </a:solidFill>
              </a:rPr>
              <a:t>• Useful for explaining hypotheses to humans.</a:t>
            </a:r>
            <a:endParaRPr lang="en-US" sz="870" dirty="0"/>
          </a:p>
          <a:p>
            <a:pPr marL="0" indent="0">
              <a:buNone/>
            </a:pPr>
            <a:r>
              <a:rPr lang="en-US" sz="870" dirty="0">
                <a:solidFill>
                  <a:srgbClr val="A7B4C8"/>
                </a:solidFill>
              </a:rPr>
              <a:t>• Protect customer data and handle dumps with care.</a:t>
            </a:r>
            <a:endParaRPr lang="en-US" sz="87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8d5211319a.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w="12700">
            <a:solidFill>
              <a:srgbClr val="000000">
                <a:alpha val="0"/>
              </a:srgbClr>
            </a:solidFill>
            <a:prstDash val="solid"/>
          </a:ln>
        </p:spPr>
        <p:txBody>
          <a:bodyPr/>
          <a:lstStyle/>
          <a:p>
            <a:endParaRPr lang="en-US"/>
          </a:p>
        </p:txBody>
      </p:sp>
      <p:sp>
        <p:nvSpPr>
          <p:cNvPr id="4" name="Text 1"/>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The AI tradeoff: optimization also consumes resources</a:t>
            </a:r>
            <a:endParaRPr lang="en-US" sz="2400" dirty="0"/>
          </a:p>
        </p:txBody>
      </p:sp>
      <p:sp>
        <p:nvSpPr>
          <p:cNvPr id="5" name="Text 2"/>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AI is powerful, but model hosting and inference have their own compute and cost footprint.</a:t>
            </a:r>
            <a:endParaRPr lang="en-US" sz="950" dirty="0"/>
          </a:p>
        </p:txBody>
      </p:sp>
      <p:sp>
        <p:nvSpPr>
          <p:cNvPr id="6" name="Shape 3"/>
          <p:cNvSpPr/>
          <p:nvPr/>
        </p:nvSpPr>
        <p:spPr>
          <a:xfrm>
            <a:off x="594360" y="1234440"/>
            <a:ext cx="3703320" cy="4526280"/>
          </a:xfrm>
          <a:prstGeom prst="roundRect">
            <a:avLst>
              <a:gd name="adj" fmla="val 1975"/>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7" name="Shape 4"/>
          <p:cNvSpPr/>
          <p:nvPr/>
        </p:nvSpPr>
        <p:spPr>
          <a:xfrm>
            <a:off x="594360" y="1234440"/>
            <a:ext cx="45720" cy="4526280"/>
          </a:xfrm>
          <a:prstGeom prst="rect">
            <a:avLst/>
          </a:prstGeom>
          <a:solidFill>
            <a:srgbClr val="7FBA00"/>
          </a:solidFill>
          <a:ln w="12700">
            <a:solidFill>
              <a:srgbClr val="7FBA00"/>
            </a:solidFill>
            <a:prstDash val="solid"/>
          </a:ln>
        </p:spPr>
        <p:txBody>
          <a:bodyPr/>
          <a:lstStyle/>
          <a:p>
            <a:endParaRPr lang="en-US"/>
          </a:p>
        </p:txBody>
      </p:sp>
      <p:sp>
        <p:nvSpPr>
          <p:cNvPr id="8" name="Text 5"/>
          <p:cNvSpPr/>
          <p:nvPr/>
        </p:nvSpPr>
        <p:spPr>
          <a:xfrm>
            <a:off x="758952" y="1371600"/>
            <a:ext cx="3429000" cy="256032"/>
          </a:xfrm>
          <a:prstGeom prst="rect">
            <a:avLst/>
          </a:prstGeom>
          <a:noFill/>
          <a:ln/>
        </p:spPr>
        <p:txBody>
          <a:bodyPr wrap="square" lIns="0" tIns="0" rIns="0" bIns="0" rtlCol="0" anchor="ctr"/>
          <a:lstStyle/>
          <a:p>
            <a:pPr marL="0" indent="0">
              <a:buNone/>
            </a:pPr>
            <a:r>
              <a:rPr lang="en-US" sz="1200" b="1" dirty="0">
                <a:solidFill>
                  <a:srgbClr val="FFFFFF"/>
                </a:solidFill>
              </a:rPr>
              <a:t>Use AI where it amplifies value</a:t>
            </a:r>
            <a:endParaRPr lang="en-US" sz="1200" dirty="0"/>
          </a:p>
        </p:txBody>
      </p:sp>
      <p:sp>
        <p:nvSpPr>
          <p:cNvPr id="9" name="Text 6"/>
          <p:cNvSpPr/>
          <p:nvPr/>
        </p:nvSpPr>
        <p:spPr>
          <a:xfrm>
            <a:off x="758952" y="1737360"/>
            <a:ext cx="3392424" cy="393192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Complex bottleneck analysis.</a:t>
            </a:r>
            <a:endParaRPr lang="en-US" sz="870" dirty="0"/>
          </a:p>
          <a:p>
            <a:pPr marL="0" indent="0">
              <a:buNone/>
            </a:pPr>
            <a:r>
              <a:rPr lang="en-US" sz="870" dirty="0">
                <a:solidFill>
                  <a:srgbClr val="A7B4C8"/>
                </a:solidFill>
              </a:rPr>
              <a:t>• Large-codebase reasoning.</a:t>
            </a:r>
            <a:endParaRPr lang="en-US" sz="870" dirty="0"/>
          </a:p>
          <a:p>
            <a:pPr marL="0" indent="0">
              <a:buNone/>
            </a:pPr>
            <a:r>
              <a:rPr lang="en-US" sz="870" dirty="0">
                <a:solidFill>
                  <a:srgbClr val="A7B4C8"/>
                </a:solidFill>
              </a:rPr>
              <a:t>• Incident triage and hypothesis generation.</a:t>
            </a:r>
            <a:endParaRPr lang="en-US" sz="870" dirty="0"/>
          </a:p>
          <a:p>
            <a:pPr marL="0" indent="0">
              <a:buNone/>
            </a:pPr>
            <a:r>
              <a:rPr lang="en-US" sz="870" dirty="0">
                <a:solidFill>
                  <a:srgbClr val="A7B4C8"/>
                </a:solidFill>
              </a:rPr>
              <a:t>• Code review for repeated patterns.</a:t>
            </a:r>
            <a:endParaRPr lang="en-US" sz="870" dirty="0"/>
          </a:p>
        </p:txBody>
      </p:sp>
      <p:sp>
        <p:nvSpPr>
          <p:cNvPr id="10" name="Shape 7"/>
          <p:cNvSpPr/>
          <p:nvPr/>
        </p:nvSpPr>
        <p:spPr>
          <a:xfrm>
            <a:off x="4480560" y="1234440"/>
            <a:ext cx="3337560" cy="4526280"/>
          </a:xfrm>
          <a:prstGeom prst="roundRect">
            <a:avLst>
              <a:gd name="adj" fmla="val 2192"/>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1" name="Shape 8"/>
          <p:cNvSpPr/>
          <p:nvPr/>
        </p:nvSpPr>
        <p:spPr>
          <a:xfrm>
            <a:off x="4480560" y="1234440"/>
            <a:ext cx="45720" cy="4526280"/>
          </a:xfrm>
          <a:prstGeom prst="rect">
            <a:avLst/>
          </a:prstGeom>
          <a:solidFill>
            <a:srgbClr val="FFB900"/>
          </a:solidFill>
          <a:ln w="12700">
            <a:solidFill>
              <a:srgbClr val="FFB900"/>
            </a:solidFill>
            <a:prstDash val="solid"/>
          </a:ln>
        </p:spPr>
        <p:txBody>
          <a:bodyPr/>
          <a:lstStyle/>
          <a:p>
            <a:endParaRPr lang="en-US"/>
          </a:p>
        </p:txBody>
      </p:sp>
      <p:sp>
        <p:nvSpPr>
          <p:cNvPr id="12" name="Text 9"/>
          <p:cNvSpPr/>
          <p:nvPr/>
        </p:nvSpPr>
        <p:spPr>
          <a:xfrm>
            <a:off x="4645152" y="1371600"/>
            <a:ext cx="3063240" cy="256032"/>
          </a:xfrm>
          <a:prstGeom prst="rect">
            <a:avLst/>
          </a:prstGeom>
          <a:noFill/>
          <a:ln/>
        </p:spPr>
        <p:txBody>
          <a:bodyPr wrap="square" lIns="0" tIns="0" rIns="0" bIns="0" rtlCol="0" anchor="ctr"/>
          <a:lstStyle/>
          <a:p>
            <a:pPr marL="0" indent="0">
              <a:buNone/>
            </a:pPr>
            <a:r>
              <a:rPr lang="en-US" sz="1200" b="1" dirty="0">
                <a:solidFill>
                  <a:srgbClr val="FFFFFF"/>
                </a:solidFill>
              </a:rPr>
              <a:t>Avoid “AI for everything”</a:t>
            </a:r>
            <a:endParaRPr lang="en-US" sz="1200" dirty="0"/>
          </a:p>
        </p:txBody>
      </p:sp>
      <p:sp>
        <p:nvSpPr>
          <p:cNvPr id="13" name="Text 10"/>
          <p:cNvSpPr/>
          <p:nvPr/>
        </p:nvSpPr>
        <p:spPr>
          <a:xfrm>
            <a:off x="4645152" y="1737360"/>
            <a:ext cx="3026664" cy="393192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Do not send every log line to a model.</a:t>
            </a:r>
            <a:endParaRPr lang="en-US" sz="870" dirty="0"/>
          </a:p>
          <a:p>
            <a:pPr marL="0" indent="0">
              <a:buNone/>
            </a:pPr>
            <a:r>
              <a:rPr lang="en-US" sz="870" dirty="0">
                <a:solidFill>
                  <a:srgbClr val="A7B4C8"/>
                </a:solidFill>
              </a:rPr>
              <a:t>• Use sampling, aggregation and cheaper analysis first.</a:t>
            </a:r>
            <a:endParaRPr lang="en-US" sz="870" dirty="0"/>
          </a:p>
          <a:p>
            <a:pPr marL="0" indent="0">
              <a:buNone/>
            </a:pPr>
            <a:r>
              <a:rPr lang="en-US" sz="870" dirty="0">
                <a:solidFill>
                  <a:srgbClr val="A7B4C8"/>
                </a:solidFill>
              </a:rPr>
              <a:t>• Keep humans in control of expensive decisions.</a:t>
            </a:r>
            <a:endParaRPr lang="en-US" sz="870" dirty="0"/>
          </a:p>
        </p:txBody>
      </p:sp>
      <p:sp>
        <p:nvSpPr>
          <p:cNvPr id="14" name="Shape 11"/>
          <p:cNvSpPr/>
          <p:nvPr/>
        </p:nvSpPr>
        <p:spPr>
          <a:xfrm>
            <a:off x="8001000" y="1234440"/>
            <a:ext cx="3520440" cy="4526280"/>
          </a:xfrm>
          <a:prstGeom prst="roundRect">
            <a:avLst>
              <a:gd name="adj" fmla="val 2078"/>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5" name="Shape 12"/>
          <p:cNvSpPr/>
          <p:nvPr/>
        </p:nvSpPr>
        <p:spPr>
          <a:xfrm>
            <a:off x="8001000" y="1234440"/>
            <a:ext cx="45720" cy="4526280"/>
          </a:xfrm>
          <a:prstGeom prst="rect">
            <a:avLst/>
          </a:prstGeom>
          <a:solidFill>
            <a:srgbClr val="36C5F0"/>
          </a:solidFill>
          <a:ln w="12700">
            <a:solidFill>
              <a:srgbClr val="36C5F0"/>
            </a:solidFill>
            <a:prstDash val="solid"/>
          </a:ln>
        </p:spPr>
        <p:txBody>
          <a:bodyPr/>
          <a:lstStyle/>
          <a:p>
            <a:endParaRPr lang="en-US"/>
          </a:p>
        </p:txBody>
      </p:sp>
      <p:sp>
        <p:nvSpPr>
          <p:cNvPr id="16" name="Text 13"/>
          <p:cNvSpPr/>
          <p:nvPr/>
        </p:nvSpPr>
        <p:spPr>
          <a:xfrm>
            <a:off x="8165592" y="1371600"/>
            <a:ext cx="3246120" cy="256032"/>
          </a:xfrm>
          <a:prstGeom prst="rect">
            <a:avLst/>
          </a:prstGeom>
          <a:noFill/>
          <a:ln/>
        </p:spPr>
        <p:txBody>
          <a:bodyPr wrap="square" lIns="0" tIns="0" rIns="0" bIns="0" rtlCol="0" anchor="ctr"/>
          <a:lstStyle/>
          <a:p>
            <a:pPr marL="0" indent="0">
              <a:buNone/>
            </a:pPr>
            <a:r>
              <a:rPr lang="en-US" sz="1200" b="1" dirty="0">
                <a:solidFill>
                  <a:srgbClr val="FFFFFF"/>
                </a:solidFill>
              </a:rPr>
              <a:t>Balance equation</a:t>
            </a:r>
            <a:endParaRPr lang="en-US" sz="1200" dirty="0"/>
          </a:p>
        </p:txBody>
      </p:sp>
      <p:sp>
        <p:nvSpPr>
          <p:cNvPr id="17" name="Text 14"/>
          <p:cNvSpPr/>
          <p:nvPr/>
        </p:nvSpPr>
        <p:spPr>
          <a:xfrm>
            <a:off x="8165592" y="1737360"/>
            <a:ext cx="3209544" cy="393192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Performance gain &gt; AI analysis cost.</a:t>
            </a:r>
            <a:endParaRPr lang="en-US" sz="870" dirty="0"/>
          </a:p>
          <a:p>
            <a:pPr marL="0" indent="0">
              <a:buNone/>
            </a:pPr>
            <a:r>
              <a:rPr lang="en-US" sz="870" dirty="0">
                <a:solidFill>
                  <a:srgbClr val="A7B4C8"/>
                </a:solidFill>
              </a:rPr>
              <a:t>• Risk reduction &gt; operational complexity.</a:t>
            </a:r>
            <a:endParaRPr lang="en-US" sz="870" dirty="0"/>
          </a:p>
          <a:p>
            <a:pPr marL="0" indent="0">
              <a:buNone/>
            </a:pPr>
            <a:r>
              <a:rPr lang="en-US" sz="870" dirty="0">
                <a:solidFill>
                  <a:srgbClr val="A7B4C8"/>
                </a:solidFill>
              </a:rPr>
              <a:t>• Repeatable workflow &gt; one-off magic.</a:t>
            </a:r>
            <a:endParaRPr lang="en-US" sz="87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Frugal software patterns students can apply immediately</a:t>
            </a:r>
            <a:endParaRPr lang="en-US" sz="2400" dirty="0"/>
          </a:p>
        </p:txBody>
      </p:sp>
      <p:sp>
        <p:nvSpPr>
          <p:cNvPr id="3" name="Text 1"/>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Small design choices compound at cloud scale.</a:t>
            </a:r>
            <a:endParaRPr lang="en-US" sz="950" dirty="0"/>
          </a:p>
        </p:txBody>
      </p:sp>
      <p:sp>
        <p:nvSpPr>
          <p:cNvPr id="4" name="Shape 2"/>
          <p:cNvSpPr/>
          <p:nvPr/>
        </p:nvSpPr>
        <p:spPr>
          <a:xfrm>
            <a:off x="685800" y="12070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5" name="Text 3"/>
          <p:cNvSpPr/>
          <p:nvPr/>
        </p:nvSpPr>
        <p:spPr>
          <a:xfrm>
            <a:off x="822960" y="1371600"/>
            <a:ext cx="2148840" cy="210312"/>
          </a:xfrm>
          <a:prstGeom prst="rect">
            <a:avLst/>
          </a:prstGeom>
          <a:noFill/>
          <a:ln/>
        </p:spPr>
        <p:txBody>
          <a:bodyPr wrap="square" lIns="0" tIns="0" rIns="0" bIns="0" rtlCol="0" anchor="ctr">
            <a:normAutofit/>
          </a:bodyPr>
          <a:lstStyle/>
          <a:p>
            <a:pPr marL="0" indent="0">
              <a:buNone/>
            </a:pPr>
            <a:r>
              <a:rPr lang="en-US" sz="1050" b="1" dirty="0">
                <a:solidFill>
                  <a:srgbClr val="7FBA00"/>
                </a:solidFill>
              </a:rPr>
              <a:t>Measure first</a:t>
            </a:r>
            <a:endParaRPr lang="en-US" sz="1050" dirty="0"/>
          </a:p>
        </p:txBody>
      </p:sp>
      <p:sp>
        <p:nvSpPr>
          <p:cNvPr id="6" name="Text 4"/>
          <p:cNvSpPr/>
          <p:nvPr/>
        </p:nvSpPr>
        <p:spPr>
          <a:xfrm>
            <a:off x="822960" y="17190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Set SLOs and define what “better” means.</a:t>
            </a:r>
            <a:endParaRPr lang="en-US" sz="810" dirty="0"/>
          </a:p>
        </p:txBody>
      </p:sp>
      <p:sp>
        <p:nvSpPr>
          <p:cNvPr id="7" name="Shape 5"/>
          <p:cNvSpPr/>
          <p:nvPr/>
        </p:nvSpPr>
        <p:spPr>
          <a:xfrm>
            <a:off x="3474720" y="12070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8" name="Text 6"/>
          <p:cNvSpPr/>
          <p:nvPr/>
        </p:nvSpPr>
        <p:spPr>
          <a:xfrm>
            <a:off x="3611880" y="1371600"/>
            <a:ext cx="2148840" cy="210312"/>
          </a:xfrm>
          <a:prstGeom prst="rect">
            <a:avLst/>
          </a:prstGeom>
          <a:noFill/>
          <a:ln/>
        </p:spPr>
        <p:txBody>
          <a:bodyPr wrap="square" lIns="0" tIns="0" rIns="0" bIns="0" rtlCol="0" anchor="ctr">
            <a:normAutofit/>
          </a:bodyPr>
          <a:lstStyle/>
          <a:p>
            <a:pPr marL="0" indent="0">
              <a:buNone/>
            </a:pPr>
            <a:r>
              <a:rPr lang="en-US" sz="1050" b="1" dirty="0">
                <a:solidFill>
                  <a:srgbClr val="36C5F0"/>
                </a:solidFill>
              </a:rPr>
              <a:t>Right-size data</a:t>
            </a:r>
            <a:endParaRPr lang="en-US" sz="1050" dirty="0"/>
          </a:p>
        </p:txBody>
      </p:sp>
      <p:sp>
        <p:nvSpPr>
          <p:cNvPr id="9" name="Text 7"/>
          <p:cNvSpPr/>
          <p:nvPr/>
        </p:nvSpPr>
        <p:spPr>
          <a:xfrm>
            <a:off x="3611880" y="17190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Avoid over-fetching, over-retention and unnecessary duplication.</a:t>
            </a:r>
            <a:endParaRPr lang="en-US" sz="810" dirty="0"/>
          </a:p>
        </p:txBody>
      </p:sp>
      <p:sp>
        <p:nvSpPr>
          <p:cNvPr id="10" name="Shape 8"/>
          <p:cNvSpPr/>
          <p:nvPr/>
        </p:nvSpPr>
        <p:spPr>
          <a:xfrm>
            <a:off x="6263640" y="12070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11" name="Text 9"/>
          <p:cNvSpPr/>
          <p:nvPr/>
        </p:nvSpPr>
        <p:spPr>
          <a:xfrm>
            <a:off x="6400800" y="1371600"/>
            <a:ext cx="2148840" cy="210312"/>
          </a:xfrm>
          <a:prstGeom prst="rect">
            <a:avLst/>
          </a:prstGeom>
          <a:noFill/>
          <a:ln/>
        </p:spPr>
        <p:txBody>
          <a:bodyPr wrap="square" lIns="0" tIns="0" rIns="0" bIns="0" rtlCol="0" anchor="ctr">
            <a:normAutofit/>
          </a:bodyPr>
          <a:lstStyle/>
          <a:p>
            <a:pPr marL="0" indent="0">
              <a:buNone/>
            </a:pPr>
            <a:r>
              <a:rPr lang="en-US" sz="1050" b="1" dirty="0">
                <a:solidFill>
                  <a:srgbClr val="FFB900"/>
                </a:solidFill>
              </a:rPr>
              <a:t>Reduce allocations</a:t>
            </a:r>
            <a:endParaRPr lang="en-US" sz="1050" dirty="0"/>
          </a:p>
        </p:txBody>
      </p:sp>
      <p:sp>
        <p:nvSpPr>
          <p:cNvPr id="12" name="Text 10"/>
          <p:cNvSpPr/>
          <p:nvPr/>
        </p:nvSpPr>
        <p:spPr>
          <a:xfrm>
            <a:off x="6400800" y="17190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Stream large data and avoid building huge object graphs.</a:t>
            </a:r>
            <a:endParaRPr lang="en-US" sz="810" dirty="0"/>
          </a:p>
        </p:txBody>
      </p:sp>
      <p:sp>
        <p:nvSpPr>
          <p:cNvPr id="13" name="Shape 11"/>
          <p:cNvSpPr/>
          <p:nvPr/>
        </p:nvSpPr>
        <p:spPr>
          <a:xfrm>
            <a:off x="9052560" y="12070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14" name="Text 12"/>
          <p:cNvSpPr/>
          <p:nvPr/>
        </p:nvSpPr>
        <p:spPr>
          <a:xfrm>
            <a:off x="9189720" y="1371600"/>
            <a:ext cx="2148840" cy="210312"/>
          </a:xfrm>
          <a:prstGeom prst="rect">
            <a:avLst/>
          </a:prstGeom>
          <a:noFill/>
          <a:ln/>
        </p:spPr>
        <p:txBody>
          <a:bodyPr wrap="square" lIns="0" tIns="0" rIns="0" bIns="0" rtlCol="0" anchor="ctr">
            <a:normAutofit/>
          </a:bodyPr>
          <a:lstStyle/>
          <a:p>
            <a:pPr marL="0" indent="0">
              <a:buNone/>
            </a:pPr>
            <a:r>
              <a:rPr lang="en-US" sz="1050" b="1" dirty="0">
                <a:solidFill>
                  <a:srgbClr val="8661C5"/>
                </a:solidFill>
              </a:rPr>
              <a:t>Cache intentionally</a:t>
            </a:r>
            <a:endParaRPr lang="en-US" sz="1050" dirty="0"/>
          </a:p>
        </p:txBody>
      </p:sp>
      <p:sp>
        <p:nvSpPr>
          <p:cNvPr id="15" name="Text 13"/>
          <p:cNvSpPr/>
          <p:nvPr/>
        </p:nvSpPr>
        <p:spPr>
          <a:xfrm>
            <a:off x="9189720" y="17190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Cache hot data with eviction, size limits and freshness rules.</a:t>
            </a:r>
            <a:endParaRPr lang="en-US" sz="810" dirty="0"/>
          </a:p>
        </p:txBody>
      </p:sp>
      <p:sp>
        <p:nvSpPr>
          <p:cNvPr id="16" name="Shape 14"/>
          <p:cNvSpPr/>
          <p:nvPr/>
        </p:nvSpPr>
        <p:spPr>
          <a:xfrm>
            <a:off x="685800" y="32644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17" name="Text 15"/>
          <p:cNvSpPr/>
          <p:nvPr/>
        </p:nvSpPr>
        <p:spPr>
          <a:xfrm>
            <a:off x="822960" y="3429000"/>
            <a:ext cx="2148840" cy="210312"/>
          </a:xfrm>
          <a:prstGeom prst="rect">
            <a:avLst/>
          </a:prstGeom>
          <a:noFill/>
          <a:ln/>
        </p:spPr>
        <p:txBody>
          <a:bodyPr wrap="square" lIns="0" tIns="0" rIns="0" bIns="0" rtlCol="0" anchor="ctr">
            <a:normAutofit/>
          </a:bodyPr>
          <a:lstStyle/>
          <a:p>
            <a:pPr marL="0" indent="0">
              <a:buNone/>
            </a:pPr>
            <a:r>
              <a:rPr lang="en-US" sz="1050" b="1" dirty="0">
                <a:solidFill>
                  <a:srgbClr val="7FBA00"/>
                </a:solidFill>
              </a:rPr>
              <a:t>Batch wisely</a:t>
            </a:r>
            <a:endParaRPr lang="en-US" sz="1050" dirty="0"/>
          </a:p>
        </p:txBody>
      </p:sp>
      <p:sp>
        <p:nvSpPr>
          <p:cNvPr id="18" name="Text 16"/>
          <p:cNvSpPr/>
          <p:nvPr/>
        </p:nvSpPr>
        <p:spPr>
          <a:xfrm>
            <a:off x="822960" y="37764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Reduce chatty calls, but watch latency and failure blast radius.</a:t>
            </a:r>
            <a:endParaRPr lang="en-US" sz="810" dirty="0"/>
          </a:p>
        </p:txBody>
      </p:sp>
      <p:sp>
        <p:nvSpPr>
          <p:cNvPr id="19" name="Shape 17"/>
          <p:cNvSpPr/>
          <p:nvPr/>
        </p:nvSpPr>
        <p:spPr>
          <a:xfrm>
            <a:off x="3474720" y="32644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20" name="Text 18"/>
          <p:cNvSpPr/>
          <p:nvPr/>
        </p:nvSpPr>
        <p:spPr>
          <a:xfrm>
            <a:off x="3611880" y="3429000"/>
            <a:ext cx="2148840" cy="210312"/>
          </a:xfrm>
          <a:prstGeom prst="rect">
            <a:avLst/>
          </a:prstGeom>
          <a:noFill/>
          <a:ln/>
        </p:spPr>
        <p:txBody>
          <a:bodyPr wrap="square" lIns="0" tIns="0" rIns="0" bIns="0" rtlCol="0" anchor="ctr">
            <a:normAutofit/>
          </a:bodyPr>
          <a:lstStyle/>
          <a:p>
            <a:pPr marL="0" indent="0">
              <a:buNone/>
            </a:pPr>
            <a:r>
              <a:rPr lang="en-US" sz="1050" b="1" dirty="0">
                <a:solidFill>
                  <a:srgbClr val="36C5F0"/>
                </a:solidFill>
              </a:rPr>
              <a:t>Scale elastically</a:t>
            </a:r>
            <a:endParaRPr lang="en-US" sz="1050" dirty="0"/>
          </a:p>
        </p:txBody>
      </p:sp>
      <p:sp>
        <p:nvSpPr>
          <p:cNvPr id="21" name="Text 19"/>
          <p:cNvSpPr/>
          <p:nvPr/>
        </p:nvSpPr>
        <p:spPr>
          <a:xfrm>
            <a:off x="3611880" y="37764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Autoscale based on meaningful workload signals.</a:t>
            </a:r>
            <a:endParaRPr lang="en-US" sz="810" dirty="0"/>
          </a:p>
        </p:txBody>
      </p:sp>
      <p:sp>
        <p:nvSpPr>
          <p:cNvPr id="22" name="Shape 20"/>
          <p:cNvSpPr/>
          <p:nvPr/>
        </p:nvSpPr>
        <p:spPr>
          <a:xfrm>
            <a:off x="6263640" y="32644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23" name="Text 21"/>
          <p:cNvSpPr/>
          <p:nvPr/>
        </p:nvSpPr>
        <p:spPr>
          <a:xfrm>
            <a:off x="6400800" y="3429000"/>
            <a:ext cx="2148840" cy="210312"/>
          </a:xfrm>
          <a:prstGeom prst="rect">
            <a:avLst/>
          </a:prstGeom>
          <a:noFill/>
          <a:ln/>
        </p:spPr>
        <p:txBody>
          <a:bodyPr wrap="square" lIns="0" tIns="0" rIns="0" bIns="0" rtlCol="0" anchor="ctr">
            <a:normAutofit/>
          </a:bodyPr>
          <a:lstStyle/>
          <a:p>
            <a:pPr marL="0" indent="0">
              <a:buNone/>
            </a:pPr>
            <a:r>
              <a:rPr lang="en-US" sz="1050" b="1" dirty="0">
                <a:solidFill>
                  <a:srgbClr val="FFB900"/>
                </a:solidFill>
              </a:rPr>
              <a:t>Place data close</a:t>
            </a:r>
            <a:endParaRPr lang="en-US" sz="1050" dirty="0"/>
          </a:p>
        </p:txBody>
      </p:sp>
      <p:sp>
        <p:nvSpPr>
          <p:cNvPr id="24" name="Text 22"/>
          <p:cNvSpPr/>
          <p:nvPr/>
        </p:nvSpPr>
        <p:spPr>
          <a:xfrm>
            <a:off x="6400800" y="37764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Minimize cross-region traffic and unnecessary hops.</a:t>
            </a:r>
            <a:endParaRPr lang="en-US" sz="810" dirty="0"/>
          </a:p>
        </p:txBody>
      </p:sp>
      <p:sp>
        <p:nvSpPr>
          <p:cNvPr id="25" name="Shape 23"/>
          <p:cNvSpPr/>
          <p:nvPr/>
        </p:nvSpPr>
        <p:spPr>
          <a:xfrm>
            <a:off x="9052560" y="3264408"/>
            <a:ext cx="2423160" cy="1572768"/>
          </a:xfrm>
          <a:prstGeom prst="roundRect">
            <a:avLst>
              <a:gd name="adj" fmla="val 4070"/>
            </a:avLst>
          </a:prstGeom>
          <a:solidFill>
            <a:srgbClr val="172033"/>
          </a:solidFill>
          <a:ln w="12700">
            <a:solidFill>
              <a:srgbClr val="2A3D5E"/>
            </a:solidFill>
            <a:prstDash val="solid"/>
          </a:ln>
        </p:spPr>
        <p:txBody>
          <a:bodyPr/>
          <a:lstStyle/>
          <a:p>
            <a:endParaRPr lang="en-US"/>
          </a:p>
        </p:txBody>
      </p:sp>
      <p:sp>
        <p:nvSpPr>
          <p:cNvPr id="26" name="Text 24"/>
          <p:cNvSpPr/>
          <p:nvPr/>
        </p:nvSpPr>
        <p:spPr>
          <a:xfrm>
            <a:off x="9189720" y="3429000"/>
            <a:ext cx="2148840" cy="210312"/>
          </a:xfrm>
          <a:prstGeom prst="rect">
            <a:avLst/>
          </a:prstGeom>
          <a:noFill/>
          <a:ln/>
        </p:spPr>
        <p:txBody>
          <a:bodyPr wrap="square" lIns="0" tIns="0" rIns="0" bIns="0" rtlCol="0" anchor="ctr">
            <a:normAutofit/>
          </a:bodyPr>
          <a:lstStyle/>
          <a:p>
            <a:pPr marL="0" indent="0">
              <a:buNone/>
            </a:pPr>
            <a:r>
              <a:rPr lang="en-US" sz="1050" b="1" dirty="0">
                <a:solidFill>
                  <a:srgbClr val="8661C5"/>
                </a:solidFill>
              </a:rPr>
              <a:t>Automate regression checks</a:t>
            </a:r>
            <a:endParaRPr lang="en-US" sz="1050" dirty="0"/>
          </a:p>
        </p:txBody>
      </p:sp>
      <p:sp>
        <p:nvSpPr>
          <p:cNvPr id="27" name="Text 25"/>
          <p:cNvSpPr/>
          <p:nvPr/>
        </p:nvSpPr>
        <p:spPr>
          <a:xfrm>
            <a:off x="9189720" y="3776472"/>
            <a:ext cx="2148840" cy="493776"/>
          </a:xfrm>
          <a:prstGeom prst="rect">
            <a:avLst/>
          </a:prstGeom>
          <a:noFill/>
          <a:ln/>
        </p:spPr>
        <p:txBody>
          <a:bodyPr wrap="square" lIns="254" tIns="254" rIns="254" bIns="254" rtlCol="0" anchor="ctr">
            <a:normAutofit/>
          </a:bodyPr>
          <a:lstStyle/>
          <a:p>
            <a:pPr marL="0" indent="0">
              <a:buNone/>
            </a:pPr>
            <a:r>
              <a:rPr lang="en-US" sz="810" dirty="0">
                <a:solidFill>
                  <a:srgbClr val="FFFFFF"/>
                </a:solidFill>
              </a:rPr>
              <a:t>Benchmark critical paths in CI/CD.</a:t>
            </a:r>
            <a:endParaRPr lang="en-US" sz="810" dirty="0"/>
          </a:p>
        </p:txBody>
      </p:sp>
      <p:sp>
        <p:nvSpPr>
          <p:cNvPr id="28" name="Text 26"/>
          <p:cNvSpPr/>
          <p:nvPr/>
        </p:nvSpPr>
        <p:spPr>
          <a:xfrm>
            <a:off x="713232" y="5696712"/>
            <a:ext cx="10607040" cy="256032"/>
          </a:xfrm>
          <a:prstGeom prst="rect">
            <a:avLst/>
          </a:prstGeom>
          <a:noFill/>
          <a:ln/>
        </p:spPr>
        <p:txBody>
          <a:bodyPr wrap="square" rtlCol="0" anchor="ctr"/>
          <a:lstStyle/>
          <a:p>
            <a:pPr marL="0" indent="0" algn="ctr">
              <a:buNone/>
            </a:pPr>
            <a:r>
              <a:rPr lang="en-US" sz="1350" b="1" dirty="0">
                <a:solidFill>
                  <a:srgbClr val="FFFFFF"/>
                </a:solidFill>
              </a:rPr>
              <a:t>Important: every pattern has tradeoffs. Validate with your workload.</a:t>
            </a:r>
            <a:endParaRPr lang="en-US" sz="1350" dirty="0"/>
          </a:p>
        </p:txBody>
      </p:sp>
      <p:sp>
        <p:nvSpPr>
          <p:cNvPr id="29"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Reference architecture for AI-assisted optimization</a:t>
            </a:r>
            <a:endParaRPr lang="en-US" sz="2400" dirty="0"/>
          </a:p>
        </p:txBody>
      </p:sp>
      <p:sp>
        <p:nvSpPr>
          <p:cNvPr id="3" name="Text 1"/>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A simple flow you can explain on a whiteboard.</a:t>
            </a:r>
            <a:endParaRPr lang="en-US" sz="950" dirty="0"/>
          </a:p>
        </p:txBody>
      </p:sp>
      <p:sp>
        <p:nvSpPr>
          <p:cNvPr id="4" name="Shape 2"/>
          <p:cNvSpPr/>
          <p:nvPr/>
        </p:nvSpPr>
        <p:spPr>
          <a:xfrm>
            <a:off x="731520" y="1920240"/>
            <a:ext cx="1691640" cy="685800"/>
          </a:xfrm>
          <a:prstGeom prst="roundRect">
            <a:avLst>
              <a:gd name="adj" fmla="val 13333"/>
            </a:avLst>
          </a:prstGeom>
          <a:solidFill>
            <a:srgbClr val="0078D4">
              <a:alpha val="94000"/>
            </a:srgbClr>
          </a:solidFill>
          <a:ln w="12700">
            <a:solidFill>
              <a:srgbClr val="0078D4"/>
            </a:solidFill>
            <a:prstDash val="solid"/>
          </a:ln>
        </p:spPr>
        <p:txBody>
          <a:bodyPr/>
          <a:lstStyle/>
          <a:p>
            <a:endParaRPr lang="en-US"/>
          </a:p>
        </p:txBody>
      </p:sp>
      <p:sp>
        <p:nvSpPr>
          <p:cNvPr id="5" name="Text 3"/>
          <p:cNvSpPr/>
          <p:nvPr/>
        </p:nvSpPr>
        <p:spPr>
          <a:xfrm>
            <a:off x="822960" y="2084832"/>
            <a:ext cx="1508760" cy="18288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App on Azure</a:t>
            </a:r>
            <a:endParaRPr lang="en-US" sz="850" dirty="0"/>
          </a:p>
        </p:txBody>
      </p:sp>
      <p:sp>
        <p:nvSpPr>
          <p:cNvPr id="6" name="Shape 4"/>
          <p:cNvSpPr/>
          <p:nvPr/>
        </p:nvSpPr>
        <p:spPr>
          <a:xfrm>
            <a:off x="2743200" y="1920240"/>
            <a:ext cx="1691640" cy="685800"/>
          </a:xfrm>
          <a:prstGeom prst="roundRect">
            <a:avLst>
              <a:gd name="adj" fmla="val 13333"/>
            </a:avLst>
          </a:prstGeom>
          <a:solidFill>
            <a:srgbClr val="36C5F0">
              <a:alpha val="94000"/>
            </a:srgbClr>
          </a:solidFill>
          <a:ln w="12700">
            <a:solidFill>
              <a:srgbClr val="36C5F0"/>
            </a:solidFill>
            <a:prstDash val="solid"/>
          </a:ln>
        </p:spPr>
        <p:txBody>
          <a:bodyPr/>
          <a:lstStyle/>
          <a:p>
            <a:endParaRPr lang="en-US"/>
          </a:p>
        </p:txBody>
      </p:sp>
      <p:sp>
        <p:nvSpPr>
          <p:cNvPr id="7" name="Text 5"/>
          <p:cNvSpPr/>
          <p:nvPr/>
        </p:nvSpPr>
        <p:spPr>
          <a:xfrm>
            <a:off x="2834640" y="2084832"/>
            <a:ext cx="1508760" cy="18288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Telemetry</a:t>
            </a:r>
            <a:endParaRPr lang="en-US" sz="850" dirty="0"/>
          </a:p>
        </p:txBody>
      </p:sp>
      <p:sp>
        <p:nvSpPr>
          <p:cNvPr id="8" name="Shape 6"/>
          <p:cNvSpPr/>
          <p:nvPr/>
        </p:nvSpPr>
        <p:spPr>
          <a:xfrm>
            <a:off x="4754880" y="1920240"/>
            <a:ext cx="1691640" cy="685800"/>
          </a:xfrm>
          <a:prstGeom prst="roundRect">
            <a:avLst>
              <a:gd name="adj" fmla="val 13333"/>
            </a:avLst>
          </a:prstGeom>
          <a:solidFill>
            <a:srgbClr val="7FBA00">
              <a:alpha val="94000"/>
            </a:srgbClr>
          </a:solidFill>
          <a:ln w="12700">
            <a:solidFill>
              <a:srgbClr val="7FBA00"/>
            </a:solidFill>
            <a:prstDash val="solid"/>
          </a:ln>
        </p:spPr>
        <p:txBody>
          <a:bodyPr/>
          <a:lstStyle/>
          <a:p>
            <a:endParaRPr lang="en-US"/>
          </a:p>
        </p:txBody>
      </p:sp>
      <p:sp>
        <p:nvSpPr>
          <p:cNvPr id="9" name="Text 7"/>
          <p:cNvSpPr/>
          <p:nvPr/>
        </p:nvSpPr>
        <p:spPr>
          <a:xfrm>
            <a:off x="4846320" y="2084832"/>
            <a:ext cx="1508760" cy="18288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Azure Monitor + App Insights</a:t>
            </a:r>
            <a:endParaRPr lang="en-US" sz="850" dirty="0"/>
          </a:p>
        </p:txBody>
      </p:sp>
      <p:sp>
        <p:nvSpPr>
          <p:cNvPr id="10" name="Shape 8"/>
          <p:cNvSpPr/>
          <p:nvPr/>
        </p:nvSpPr>
        <p:spPr>
          <a:xfrm>
            <a:off x="7132320" y="1920240"/>
            <a:ext cx="1691640" cy="685800"/>
          </a:xfrm>
          <a:prstGeom prst="roundRect">
            <a:avLst>
              <a:gd name="adj" fmla="val 13333"/>
            </a:avLst>
          </a:prstGeom>
          <a:solidFill>
            <a:srgbClr val="8661C5">
              <a:alpha val="94000"/>
            </a:srgbClr>
          </a:solidFill>
          <a:ln w="12700">
            <a:solidFill>
              <a:srgbClr val="8661C5"/>
            </a:solidFill>
            <a:prstDash val="solid"/>
          </a:ln>
        </p:spPr>
        <p:txBody>
          <a:bodyPr/>
          <a:lstStyle/>
          <a:p>
            <a:endParaRPr lang="en-US"/>
          </a:p>
        </p:txBody>
      </p:sp>
      <p:sp>
        <p:nvSpPr>
          <p:cNvPr id="11" name="Text 9"/>
          <p:cNvSpPr/>
          <p:nvPr/>
        </p:nvSpPr>
        <p:spPr>
          <a:xfrm>
            <a:off x="7223760" y="2084832"/>
            <a:ext cx="1508760" cy="18288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AI analysis</a:t>
            </a:r>
            <a:endParaRPr lang="en-US" sz="850" dirty="0"/>
          </a:p>
        </p:txBody>
      </p:sp>
      <p:sp>
        <p:nvSpPr>
          <p:cNvPr id="12" name="Shape 10"/>
          <p:cNvSpPr/>
          <p:nvPr/>
        </p:nvSpPr>
        <p:spPr>
          <a:xfrm>
            <a:off x="9235440" y="1920240"/>
            <a:ext cx="1691640" cy="685800"/>
          </a:xfrm>
          <a:prstGeom prst="roundRect">
            <a:avLst>
              <a:gd name="adj" fmla="val 13333"/>
            </a:avLst>
          </a:prstGeom>
          <a:solidFill>
            <a:srgbClr val="FFB900">
              <a:alpha val="94000"/>
            </a:srgbClr>
          </a:solidFill>
          <a:ln w="12700">
            <a:solidFill>
              <a:srgbClr val="FFB900"/>
            </a:solidFill>
            <a:prstDash val="solid"/>
          </a:ln>
        </p:spPr>
        <p:txBody>
          <a:bodyPr/>
          <a:lstStyle/>
          <a:p>
            <a:endParaRPr lang="en-US"/>
          </a:p>
        </p:txBody>
      </p:sp>
      <p:sp>
        <p:nvSpPr>
          <p:cNvPr id="13" name="Text 11"/>
          <p:cNvSpPr/>
          <p:nvPr/>
        </p:nvSpPr>
        <p:spPr>
          <a:xfrm>
            <a:off x="9326880" y="2084832"/>
            <a:ext cx="1508760" cy="18288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Code / config change</a:t>
            </a:r>
            <a:endParaRPr lang="en-US" sz="850" dirty="0"/>
          </a:p>
        </p:txBody>
      </p:sp>
      <p:sp>
        <p:nvSpPr>
          <p:cNvPr id="14" name="Shape 12"/>
          <p:cNvSpPr/>
          <p:nvPr/>
        </p:nvSpPr>
        <p:spPr>
          <a:xfrm>
            <a:off x="4754880" y="4069080"/>
            <a:ext cx="1691640" cy="685800"/>
          </a:xfrm>
          <a:prstGeom prst="roundRect">
            <a:avLst>
              <a:gd name="adj" fmla="val 13333"/>
            </a:avLst>
          </a:prstGeom>
          <a:solidFill>
            <a:srgbClr val="0078D4">
              <a:alpha val="94000"/>
            </a:srgbClr>
          </a:solidFill>
          <a:ln w="12700">
            <a:solidFill>
              <a:srgbClr val="0078D4"/>
            </a:solidFill>
            <a:prstDash val="solid"/>
          </a:ln>
        </p:spPr>
        <p:txBody>
          <a:bodyPr/>
          <a:lstStyle/>
          <a:p>
            <a:endParaRPr lang="en-US"/>
          </a:p>
        </p:txBody>
      </p:sp>
      <p:sp>
        <p:nvSpPr>
          <p:cNvPr id="15" name="Text 13"/>
          <p:cNvSpPr/>
          <p:nvPr/>
        </p:nvSpPr>
        <p:spPr>
          <a:xfrm>
            <a:off x="4846320" y="4233672"/>
            <a:ext cx="1508760" cy="18288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Deploy + validate</a:t>
            </a:r>
            <a:endParaRPr lang="en-US" sz="850" dirty="0"/>
          </a:p>
        </p:txBody>
      </p:sp>
      <p:sp>
        <p:nvSpPr>
          <p:cNvPr id="16" name="Shape 14"/>
          <p:cNvSpPr/>
          <p:nvPr/>
        </p:nvSpPr>
        <p:spPr>
          <a:xfrm>
            <a:off x="2395728" y="2103120"/>
            <a:ext cx="320040" cy="219456"/>
          </a:xfrm>
          <a:prstGeom prst="rightArrow">
            <a:avLst/>
          </a:prstGeom>
          <a:solidFill>
            <a:srgbClr val="708BB6">
              <a:alpha val="85000"/>
            </a:srgbClr>
          </a:solidFill>
          <a:ln w="12700">
            <a:solidFill>
              <a:srgbClr val="708BB6">
                <a:alpha val="0"/>
              </a:srgbClr>
            </a:solidFill>
            <a:prstDash val="solid"/>
          </a:ln>
        </p:spPr>
        <p:txBody>
          <a:bodyPr/>
          <a:lstStyle/>
          <a:p>
            <a:endParaRPr lang="en-US"/>
          </a:p>
        </p:txBody>
      </p:sp>
      <p:sp>
        <p:nvSpPr>
          <p:cNvPr id="17" name="Shape 15"/>
          <p:cNvSpPr/>
          <p:nvPr/>
        </p:nvSpPr>
        <p:spPr>
          <a:xfrm>
            <a:off x="4407408" y="2103120"/>
            <a:ext cx="320040" cy="219456"/>
          </a:xfrm>
          <a:prstGeom prst="rightArrow">
            <a:avLst/>
          </a:prstGeom>
          <a:solidFill>
            <a:srgbClr val="708BB6">
              <a:alpha val="85000"/>
            </a:srgbClr>
          </a:solidFill>
          <a:ln w="12700">
            <a:solidFill>
              <a:srgbClr val="708BB6">
                <a:alpha val="0"/>
              </a:srgbClr>
            </a:solidFill>
            <a:prstDash val="solid"/>
          </a:ln>
        </p:spPr>
        <p:txBody>
          <a:bodyPr/>
          <a:lstStyle/>
          <a:p>
            <a:endParaRPr lang="en-US"/>
          </a:p>
        </p:txBody>
      </p:sp>
      <p:sp>
        <p:nvSpPr>
          <p:cNvPr id="18" name="Shape 16"/>
          <p:cNvSpPr/>
          <p:nvPr/>
        </p:nvSpPr>
        <p:spPr>
          <a:xfrm>
            <a:off x="6784848" y="2103120"/>
            <a:ext cx="320040" cy="219456"/>
          </a:xfrm>
          <a:prstGeom prst="rightArrow">
            <a:avLst/>
          </a:prstGeom>
          <a:solidFill>
            <a:srgbClr val="708BB6">
              <a:alpha val="85000"/>
            </a:srgbClr>
          </a:solidFill>
          <a:ln w="12700">
            <a:solidFill>
              <a:srgbClr val="708BB6">
                <a:alpha val="0"/>
              </a:srgbClr>
            </a:solidFill>
            <a:prstDash val="solid"/>
          </a:ln>
        </p:spPr>
        <p:txBody>
          <a:bodyPr/>
          <a:lstStyle/>
          <a:p>
            <a:endParaRPr lang="en-US"/>
          </a:p>
        </p:txBody>
      </p:sp>
      <p:sp>
        <p:nvSpPr>
          <p:cNvPr id="19" name="Shape 17"/>
          <p:cNvSpPr/>
          <p:nvPr/>
        </p:nvSpPr>
        <p:spPr>
          <a:xfrm>
            <a:off x="8887968" y="2103120"/>
            <a:ext cx="320040" cy="219456"/>
          </a:xfrm>
          <a:prstGeom prst="rightArrow">
            <a:avLst/>
          </a:prstGeom>
          <a:solidFill>
            <a:srgbClr val="708BB6">
              <a:alpha val="85000"/>
            </a:srgbClr>
          </a:solidFill>
          <a:ln w="12700">
            <a:solidFill>
              <a:srgbClr val="708BB6">
                <a:alpha val="0"/>
              </a:srgbClr>
            </a:solidFill>
            <a:prstDash val="solid"/>
          </a:ln>
        </p:spPr>
        <p:txBody>
          <a:bodyPr/>
          <a:lstStyle/>
          <a:p>
            <a:endParaRPr lang="en-US"/>
          </a:p>
        </p:txBody>
      </p:sp>
      <p:sp>
        <p:nvSpPr>
          <p:cNvPr id="20" name="Shape 18"/>
          <p:cNvSpPr/>
          <p:nvPr/>
        </p:nvSpPr>
        <p:spPr>
          <a:xfrm>
            <a:off x="9829800" y="2697480"/>
            <a:ext cx="320040" cy="731520"/>
          </a:xfrm>
          <a:prstGeom prst="downArrow">
            <a:avLst/>
          </a:prstGeom>
          <a:solidFill>
            <a:srgbClr val="708BB6">
              <a:alpha val="85000"/>
            </a:srgbClr>
          </a:solidFill>
          <a:ln w="12700">
            <a:solidFill>
              <a:srgbClr val="708BB6">
                <a:alpha val="0"/>
              </a:srgbClr>
            </a:solidFill>
            <a:prstDash val="solid"/>
          </a:ln>
        </p:spPr>
        <p:txBody>
          <a:bodyPr/>
          <a:lstStyle/>
          <a:p>
            <a:endParaRPr lang="en-US"/>
          </a:p>
        </p:txBody>
      </p:sp>
      <p:sp>
        <p:nvSpPr>
          <p:cNvPr id="21" name="Shape 19"/>
          <p:cNvSpPr/>
          <p:nvPr/>
        </p:nvSpPr>
        <p:spPr>
          <a:xfrm>
            <a:off x="6510528" y="4261104"/>
            <a:ext cx="2057400" cy="219456"/>
          </a:xfrm>
          <a:prstGeom prst="leftArrow">
            <a:avLst/>
          </a:prstGeom>
          <a:solidFill>
            <a:srgbClr val="708BB6">
              <a:alpha val="85000"/>
            </a:srgbClr>
          </a:solidFill>
          <a:ln w="12700">
            <a:solidFill>
              <a:srgbClr val="708BB6">
                <a:alpha val="0"/>
              </a:srgbClr>
            </a:solidFill>
            <a:prstDash val="solid"/>
          </a:ln>
        </p:spPr>
        <p:txBody>
          <a:bodyPr/>
          <a:lstStyle/>
          <a:p>
            <a:endParaRPr lang="en-US"/>
          </a:p>
        </p:txBody>
      </p:sp>
      <p:sp>
        <p:nvSpPr>
          <p:cNvPr id="22" name="Shape 20"/>
          <p:cNvSpPr/>
          <p:nvPr/>
        </p:nvSpPr>
        <p:spPr>
          <a:xfrm>
            <a:off x="2788920" y="4261104"/>
            <a:ext cx="1920240" cy="219456"/>
          </a:xfrm>
          <a:prstGeom prst="leftArrow">
            <a:avLst/>
          </a:prstGeom>
          <a:solidFill>
            <a:srgbClr val="708BB6">
              <a:alpha val="85000"/>
            </a:srgbClr>
          </a:solidFill>
          <a:ln w="12700">
            <a:solidFill>
              <a:srgbClr val="708BB6">
                <a:alpha val="0"/>
              </a:srgbClr>
            </a:solidFill>
            <a:prstDash val="solid"/>
          </a:ln>
        </p:spPr>
        <p:txBody>
          <a:bodyPr/>
          <a:lstStyle/>
          <a:p>
            <a:endParaRPr lang="en-US"/>
          </a:p>
        </p:txBody>
      </p:sp>
      <p:sp>
        <p:nvSpPr>
          <p:cNvPr id="23" name="Text 21"/>
          <p:cNvSpPr/>
          <p:nvPr/>
        </p:nvSpPr>
        <p:spPr>
          <a:xfrm>
            <a:off x="731520" y="5577840"/>
            <a:ext cx="10698480" cy="365760"/>
          </a:xfrm>
          <a:prstGeom prst="rect">
            <a:avLst/>
          </a:prstGeom>
          <a:noFill/>
          <a:ln/>
        </p:spPr>
        <p:txBody>
          <a:bodyPr wrap="square" rtlCol="0" anchor="ctr"/>
          <a:lstStyle/>
          <a:p>
            <a:pPr marL="0" indent="0" algn="ctr">
              <a:buNone/>
            </a:pPr>
            <a:r>
              <a:rPr lang="en-US" sz="1600" b="1" dirty="0">
                <a:solidFill>
                  <a:srgbClr val="FFFFFF"/>
                </a:solidFill>
              </a:rPr>
              <a:t>Feedback loop: optimize only after you can observe the effect.</a:t>
            </a:r>
            <a:endParaRPr lang="en-US" sz="160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eeca1f1ca5.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1000"/>
            </a:srgbClr>
          </a:solidFill>
          <a:ln w="12700">
            <a:solidFill>
              <a:srgbClr val="000000">
                <a:alpha val="0"/>
              </a:srgbClr>
            </a:solidFill>
            <a:prstDash val="solid"/>
          </a:ln>
        </p:spPr>
        <p:txBody>
          <a:bodyPr/>
          <a:lstStyle/>
          <a:p>
            <a:endParaRPr lang="en-US"/>
          </a:p>
        </p:txBody>
      </p:sp>
      <p:sp>
        <p:nvSpPr>
          <p:cNvPr id="4" name="Text 1"/>
          <p:cNvSpPr/>
          <p:nvPr/>
        </p:nvSpPr>
        <p:spPr>
          <a:xfrm>
            <a:off x="502920" y="320040"/>
            <a:ext cx="795528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Demo ideas for the session</a:t>
            </a:r>
            <a:endParaRPr lang="en-US" sz="2400" dirty="0"/>
          </a:p>
        </p:txBody>
      </p:sp>
      <p:sp>
        <p:nvSpPr>
          <p:cNvPr id="5" name="Text 2"/>
          <p:cNvSpPr/>
          <p:nvPr/>
        </p:nvSpPr>
        <p:spPr>
          <a:xfrm>
            <a:off x="530352" y="758952"/>
            <a:ext cx="8412480" cy="228600"/>
          </a:xfrm>
          <a:prstGeom prst="rect">
            <a:avLst/>
          </a:prstGeom>
          <a:noFill/>
          <a:ln/>
        </p:spPr>
        <p:txBody>
          <a:bodyPr wrap="square" lIns="0" tIns="0" rIns="0" bIns="0" rtlCol="0" anchor="ctr"/>
          <a:lstStyle/>
          <a:p>
            <a:pPr marL="0" indent="0">
              <a:buNone/>
            </a:pPr>
            <a:r>
              <a:rPr lang="en-US" sz="950" dirty="0">
                <a:solidFill>
                  <a:srgbClr val="A7B4C8"/>
                </a:solidFill>
              </a:rPr>
              <a:t>Pick 2 or 3 depending on available environment and time.</a:t>
            </a:r>
            <a:endParaRPr lang="en-US" sz="950" dirty="0"/>
          </a:p>
        </p:txBody>
      </p:sp>
      <p:sp>
        <p:nvSpPr>
          <p:cNvPr id="6" name="Shape 3"/>
          <p:cNvSpPr/>
          <p:nvPr/>
        </p:nvSpPr>
        <p:spPr>
          <a:xfrm>
            <a:off x="594360" y="1097280"/>
            <a:ext cx="3429000" cy="4709160"/>
          </a:xfrm>
          <a:prstGeom prst="roundRect">
            <a:avLst>
              <a:gd name="adj" fmla="val 2133"/>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7" name="Shape 4"/>
          <p:cNvSpPr/>
          <p:nvPr/>
        </p:nvSpPr>
        <p:spPr>
          <a:xfrm>
            <a:off x="594360" y="1097280"/>
            <a:ext cx="45720" cy="4709160"/>
          </a:xfrm>
          <a:prstGeom prst="rect">
            <a:avLst/>
          </a:prstGeom>
          <a:solidFill>
            <a:srgbClr val="36C5F0"/>
          </a:solidFill>
          <a:ln w="12700">
            <a:solidFill>
              <a:srgbClr val="36C5F0"/>
            </a:solidFill>
            <a:prstDash val="solid"/>
          </a:ln>
        </p:spPr>
        <p:txBody>
          <a:bodyPr/>
          <a:lstStyle/>
          <a:p>
            <a:endParaRPr lang="en-US"/>
          </a:p>
        </p:txBody>
      </p:sp>
      <p:sp>
        <p:nvSpPr>
          <p:cNvPr id="8" name="Text 5"/>
          <p:cNvSpPr/>
          <p:nvPr/>
        </p:nvSpPr>
        <p:spPr>
          <a:xfrm>
            <a:off x="758952" y="1234440"/>
            <a:ext cx="3154680" cy="256032"/>
          </a:xfrm>
          <a:prstGeom prst="rect">
            <a:avLst/>
          </a:prstGeom>
          <a:noFill/>
          <a:ln/>
        </p:spPr>
        <p:txBody>
          <a:bodyPr wrap="square" lIns="0" tIns="0" rIns="0" bIns="0" rtlCol="0" anchor="ctr"/>
          <a:lstStyle/>
          <a:p>
            <a:pPr marL="0" indent="0">
              <a:buNone/>
            </a:pPr>
            <a:r>
              <a:rPr lang="en-US" sz="1200" b="1" dirty="0">
                <a:solidFill>
                  <a:srgbClr val="FFFFFF"/>
                </a:solidFill>
              </a:rPr>
              <a:t>Demo A: observe a slow API</a:t>
            </a:r>
            <a:endParaRPr lang="en-US" sz="1200" dirty="0"/>
          </a:p>
        </p:txBody>
      </p:sp>
      <p:sp>
        <p:nvSpPr>
          <p:cNvPr id="9" name="Text 6"/>
          <p:cNvSpPr/>
          <p:nvPr/>
        </p:nvSpPr>
        <p:spPr>
          <a:xfrm>
            <a:off x="758952" y="1600200"/>
            <a:ext cx="3118104" cy="411480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Run a simple API with an intentionally slow endpoint.</a:t>
            </a:r>
            <a:endParaRPr lang="en-US" sz="870" dirty="0"/>
          </a:p>
          <a:p>
            <a:pPr marL="0" indent="0">
              <a:buNone/>
            </a:pPr>
            <a:r>
              <a:rPr lang="en-US" sz="870" dirty="0">
                <a:solidFill>
                  <a:srgbClr val="A7B4C8"/>
                </a:solidFill>
              </a:rPr>
              <a:t>• Show request duration in Application Insights.</a:t>
            </a:r>
            <a:endParaRPr lang="en-US" sz="870" dirty="0"/>
          </a:p>
          <a:p>
            <a:pPr marL="0" indent="0">
              <a:buNone/>
            </a:pPr>
            <a:r>
              <a:rPr lang="en-US" sz="870" dirty="0">
                <a:solidFill>
                  <a:srgbClr val="A7B4C8"/>
                </a:solidFill>
              </a:rPr>
              <a:t>• Use logs/traces to find the slow dependency.</a:t>
            </a:r>
            <a:endParaRPr lang="en-US" sz="870" dirty="0"/>
          </a:p>
        </p:txBody>
      </p:sp>
      <p:sp>
        <p:nvSpPr>
          <p:cNvPr id="10" name="Shape 7"/>
          <p:cNvSpPr/>
          <p:nvPr/>
        </p:nvSpPr>
        <p:spPr>
          <a:xfrm>
            <a:off x="4297680" y="1097280"/>
            <a:ext cx="3429000" cy="4709160"/>
          </a:xfrm>
          <a:prstGeom prst="roundRect">
            <a:avLst>
              <a:gd name="adj" fmla="val 2133"/>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1" name="Shape 8"/>
          <p:cNvSpPr/>
          <p:nvPr/>
        </p:nvSpPr>
        <p:spPr>
          <a:xfrm>
            <a:off x="4297680" y="1097280"/>
            <a:ext cx="45720" cy="4709160"/>
          </a:xfrm>
          <a:prstGeom prst="rect">
            <a:avLst/>
          </a:prstGeom>
          <a:solidFill>
            <a:srgbClr val="7FBA00"/>
          </a:solidFill>
          <a:ln w="12700">
            <a:solidFill>
              <a:srgbClr val="7FBA00"/>
            </a:solidFill>
            <a:prstDash val="solid"/>
          </a:ln>
        </p:spPr>
        <p:txBody>
          <a:bodyPr/>
          <a:lstStyle/>
          <a:p>
            <a:endParaRPr lang="en-US"/>
          </a:p>
        </p:txBody>
      </p:sp>
      <p:sp>
        <p:nvSpPr>
          <p:cNvPr id="12" name="Text 9"/>
          <p:cNvSpPr/>
          <p:nvPr/>
        </p:nvSpPr>
        <p:spPr>
          <a:xfrm>
            <a:off x="4462272" y="1234440"/>
            <a:ext cx="3154680" cy="256032"/>
          </a:xfrm>
          <a:prstGeom prst="rect">
            <a:avLst/>
          </a:prstGeom>
          <a:noFill/>
          <a:ln/>
        </p:spPr>
        <p:txBody>
          <a:bodyPr wrap="square" lIns="0" tIns="0" rIns="0" bIns="0" rtlCol="0" anchor="ctr"/>
          <a:lstStyle/>
          <a:p>
            <a:pPr marL="0" indent="0">
              <a:buNone/>
            </a:pPr>
            <a:r>
              <a:rPr lang="en-US" sz="1200" b="1" dirty="0">
                <a:solidFill>
                  <a:srgbClr val="FFFFFF"/>
                </a:solidFill>
              </a:rPr>
              <a:t>Demo B: Copilot refactor</a:t>
            </a:r>
            <a:endParaRPr lang="en-US" sz="1200" dirty="0"/>
          </a:p>
        </p:txBody>
      </p:sp>
      <p:sp>
        <p:nvSpPr>
          <p:cNvPr id="13" name="Text 10"/>
          <p:cNvSpPr/>
          <p:nvPr/>
        </p:nvSpPr>
        <p:spPr>
          <a:xfrm>
            <a:off x="4462272" y="1600200"/>
            <a:ext cx="3118104" cy="411480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Open inefficient code in VS Code.</a:t>
            </a:r>
            <a:endParaRPr lang="en-US" sz="870" dirty="0"/>
          </a:p>
          <a:p>
            <a:pPr marL="0" indent="0">
              <a:buNone/>
            </a:pPr>
            <a:r>
              <a:rPr lang="en-US" sz="870" dirty="0">
                <a:solidFill>
                  <a:srgbClr val="A7B4C8"/>
                </a:solidFill>
              </a:rPr>
              <a:t>• Ask GitHub Copilot to explain complexity and suggest alternatives.</a:t>
            </a:r>
            <a:endParaRPr lang="en-US" sz="870" dirty="0"/>
          </a:p>
          <a:p>
            <a:pPr marL="0" indent="0">
              <a:buNone/>
            </a:pPr>
            <a:r>
              <a:rPr lang="en-US" sz="870" dirty="0">
                <a:solidFill>
                  <a:srgbClr val="A7B4C8"/>
                </a:solidFill>
              </a:rPr>
              <a:t>• Run a micro-benchmark before/after.</a:t>
            </a:r>
            <a:endParaRPr lang="en-US" sz="870" dirty="0"/>
          </a:p>
        </p:txBody>
      </p:sp>
      <p:sp>
        <p:nvSpPr>
          <p:cNvPr id="14" name="Shape 11"/>
          <p:cNvSpPr/>
          <p:nvPr/>
        </p:nvSpPr>
        <p:spPr>
          <a:xfrm>
            <a:off x="8001000" y="1097280"/>
            <a:ext cx="3429000" cy="4709160"/>
          </a:xfrm>
          <a:prstGeom prst="roundRect">
            <a:avLst>
              <a:gd name="adj" fmla="val 2133"/>
            </a:avLst>
          </a:prstGeom>
          <a:solidFill>
            <a:srgbClr val="172033">
              <a:alpha val="97000"/>
            </a:srgbClr>
          </a:solidFill>
          <a:ln w="12700">
            <a:solidFill>
              <a:srgbClr val="2A3D5E">
                <a:alpha val="90000"/>
              </a:srgbClr>
            </a:solidFill>
            <a:prstDash val="solid"/>
          </a:ln>
          <a:effectLst>
            <a:outerShdw blurRad="25400" dist="12700" dir="2700000" algn="bl" rotWithShape="0">
              <a:srgbClr val="000000">
                <a:alpha val="18000"/>
              </a:srgbClr>
            </a:outerShdw>
          </a:effectLst>
        </p:spPr>
        <p:txBody>
          <a:bodyPr/>
          <a:lstStyle/>
          <a:p>
            <a:endParaRPr lang="en-US"/>
          </a:p>
        </p:txBody>
      </p:sp>
      <p:sp>
        <p:nvSpPr>
          <p:cNvPr id="15" name="Shape 12"/>
          <p:cNvSpPr/>
          <p:nvPr/>
        </p:nvSpPr>
        <p:spPr>
          <a:xfrm>
            <a:off x="8001000" y="1097280"/>
            <a:ext cx="45720" cy="4709160"/>
          </a:xfrm>
          <a:prstGeom prst="rect">
            <a:avLst/>
          </a:prstGeom>
          <a:solidFill>
            <a:srgbClr val="FFB900"/>
          </a:solidFill>
          <a:ln w="12700">
            <a:solidFill>
              <a:srgbClr val="FFB900"/>
            </a:solidFill>
            <a:prstDash val="solid"/>
          </a:ln>
        </p:spPr>
        <p:txBody>
          <a:bodyPr/>
          <a:lstStyle/>
          <a:p>
            <a:endParaRPr lang="en-US"/>
          </a:p>
        </p:txBody>
      </p:sp>
      <p:sp>
        <p:nvSpPr>
          <p:cNvPr id="16" name="Text 13"/>
          <p:cNvSpPr/>
          <p:nvPr/>
        </p:nvSpPr>
        <p:spPr>
          <a:xfrm>
            <a:off x="8165592" y="1234440"/>
            <a:ext cx="3154680" cy="256032"/>
          </a:xfrm>
          <a:prstGeom prst="rect">
            <a:avLst/>
          </a:prstGeom>
          <a:noFill/>
          <a:ln/>
        </p:spPr>
        <p:txBody>
          <a:bodyPr wrap="square" lIns="0" tIns="0" rIns="0" bIns="0" rtlCol="0" anchor="ctr"/>
          <a:lstStyle/>
          <a:p>
            <a:pPr marL="0" indent="0">
              <a:buNone/>
            </a:pPr>
            <a:r>
              <a:rPr lang="en-US" sz="1200" b="1" dirty="0">
                <a:solidFill>
                  <a:srgbClr val="FFFFFF"/>
                </a:solidFill>
              </a:rPr>
              <a:t>Demo C: memory pressure story</a:t>
            </a:r>
            <a:endParaRPr lang="en-US" sz="1200" dirty="0"/>
          </a:p>
        </p:txBody>
      </p:sp>
      <p:sp>
        <p:nvSpPr>
          <p:cNvPr id="17" name="Text 14"/>
          <p:cNvSpPr/>
          <p:nvPr/>
        </p:nvSpPr>
        <p:spPr>
          <a:xfrm>
            <a:off x="8165592" y="1600200"/>
            <a:ext cx="3118104" cy="4114800"/>
          </a:xfrm>
          <a:prstGeom prst="rect">
            <a:avLst/>
          </a:prstGeom>
          <a:noFill/>
          <a:ln/>
        </p:spPr>
        <p:txBody>
          <a:bodyPr wrap="square" lIns="254" tIns="254" rIns="254" bIns="254" rtlCol="0" anchor="ctr">
            <a:normAutofit/>
          </a:bodyPr>
          <a:lstStyle/>
          <a:p>
            <a:pPr marL="0" indent="0">
              <a:buNone/>
            </a:pPr>
            <a:r>
              <a:rPr lang="en-US" sz="870" dirty="0">
                <a:solidFill>
                  <a:srgbClr val="A7B4C8"/>
                </a:solidFill>
              </a:rPr>
              <a:t>• Use a synthetic JSON parser that materializes a huge DOM.</a:t>
            </a:r>
            <a:endParaRPr lang="en-US" sz="870" dirty="0"/>
          </a:p>
          <a:p>
            <a:pPr marL="0" indent="0">
              <a:buNone/>
            </a:pPr>
            <a:r>
              <a:rPr lang="en-US" sz="870" dirty="0">
                <a:solidFill>
                  <a:srgbClr val="A7B4C8"/>
                </a:solidFill>
              </a:rPr>
              <a:t>• Show memory growth and object allocation evidence.</a:t>
            </a:r>
            <a:endParaRPr lang="en-US" sz="870" dirty="0"/>
          </a:p>
          <a:p>
            <a:pPr marL="0" indent="0">
              <a:buNone/>
            </a:pPr>
            <a:r>
              <a:rPr lang="en-US" sz="870" dirty="0">
                <a:solidFill>
                  <a:srgbClr val="A7B4C8"/>
                </a:solidFill>
              </a:rPr>
              <a:t>• Refactor to streaming or typed models.</a:t>
            </a:r>
            <a:endParaRPr lang="en-US" sz="87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b92074c74b.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0000"/>
            </a:srgbClr>
          </a:solidFill>
          <a:ln w="12700">
            <a:solidFill>
              <a:srgbClr val="000000">
                <a:alpha val="0"/>
              </a:srgbClr>
            </a:solidFill>
            <a:prstDash val="solid"/>
          </a:ln>
        </p:spPr>
        <p:txBody>
          <a:bodyPr/>
          <a:lstStyle/>
          <a:p>
            <a:endParaRPr lang="en-US"/>
          </a:p>
        </p:txBody>
      </p:sp>
      <p:sp>
        <p:nvSpPr>
          <p:cNvPr id="4" name="Text 1"/>
          <p:cNvSpPr/>
          <p:nvPr/>
        </p:nvSpPr>
        <p:spPr>
          <a:xfrm>
            <a:off x="731520" y="868680"/>
            <a:ext cx="1069848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Aptos Display" pitchFamily="34" charset="0"/>
                <a:ea typeface="Aptos Display" pitchFamily="34" charset="-122"/>
                <a:cs typeface="Aptos Display" pitchFamily="34" charset="-120"/>
              </a:rPr>
              <a:t>Build. Measure. Optimize. Repeat.</a:t>
            </a:r>
            <a:endParaRPr lang="en-US" sz="3400" dirty="0"/>
          </a:p>
        </p:txBody>
      </p:sp>
      <p:sp>
        <p:nvSpPr>
          <p:cNvPr id="5" name="Text 2"/>
          <p:cNvSpPr/>
          <p:nvPr/>
        </p:nvSpPr>
        <p:spPr>
          <a:xfrm>
            <a:off x="1463040" y="1691640"/>
            <a:ext cx="9326880" cy="384048"/>
          </a:xfrm>
          <a:prstGeom prst="rect">
            <a:avLst/>
          </a:prstGeom>
          <a:noFill/>
          <a:ln/>
        </p:spPr>
        <p:txBody>
          <a:bodyPr wrap="square" lIns="0" tIns="0" rIns="0" bIns="0" rtlCol="0" anchor="ctr"/>
          <a:lstStyle/>
          <a:p>
            <a:pPr marL="0" indent="0" algn="ctr">
              <a:buNone/>
            </a:pPr>
            <a:r>
              <a:rPr lang="en-US" sz="1500" dirty="0">
                <a:solidFill>
                  <a:srgbClr val="DCEBFF"/>
                </a:solidFill>
              </a:rPr>
              <a:t>The intelligent cloud rewards software that is observable, efficient and continuously improved.</a:t>
            </a:r>
            <a:endParaRPr lang="en-US" sz="1500" dirty="0"/>
          </a:p>
        </p:txBody>
      </p:sp>
      <p:sp>
        <p:nvSpPr>
          <p:cNvPr id="6" name="Shape 3"/>
          <p:cNvSpPr/>
          <p:nvPr/>
        </p:nvSpPr>
        <p:spPr>
          <a:xfrm>
            <a:off x="1097280" y="2743200"/>
            <a:ext cx="2029968" cy="777240"/>
          </a:xfrm>
          <a:prstGeom prst="roundRect">
            <a:avLst>
              <a:gd name="adj" fmla="val 9412"/>
            </a:avLst>
          </a:prstGeom>
          <a:solidFill>
            <a:srgbClr val="1B2945">
              <a:alpha val="95000"/>
            </a:srgbClr>
          </a:solidFill>
          <a:ln w="12700">
            <a:solidFill>
              <a:srgbClr val="314461">
                <a:alpha val="80000"/>
              </a:srgbClr>
            </a:solidFill>
            <a:prstDash val="solid"/>
          </a:ln>
        </p:spPr>
        <p:txBody>
          <a:bodyPr/>
          <a:lstStyle/>
          <a:p>
            <a:endParaRPr lang="en-US"/>
          </a:p>
        </p:txBody>
      </p:sp>
      <p:sp>
        <p:nvSpPr>
          <p:cNvPr id="7" name="Text 4"/>
          <p:cNvSpPr/>
          <p:nvPr/>
        </p:nvSpPr>
        <p:spPr>
          <a:xfrm>
            <a:off x="1207008" y="2852928"/>
            <a:ext cx="502920" cy="274320"/>
          </a:xfrm>
          <a:prstGeom prst="rect">
            <a:avLst/>
          </a:prstGeom>
          <a:noFill/>
          <a:ln/>
        </p:spPr>
        <p:txBody>
          <a:bodyPr wrap="square" lIns="0" tIns="0" rIns="0" bIns="0" rtlCol="0" anchor="ctr"/>
          <a:lstStyle/>
          <a:p>
            <a:pPr marL="0" indent="0">
              <a:buNone/>
            </a:pPr>
            <a:r>
              <a:rPr lang="en-US" sz="1900" b="1" dirty="0">
                <a:solidFill>
                  <a:srgbClr val="FFB900"/>
                </a:solidFill>
              </a:rPr>
              <a:t>1</a:t>
            </a:r>
            <a:endParaRPr lang="en-US" sz="1900" dirty="0"/>
          </a:p>
        </p:txBody>
      </p:sp>
      <p:sp>
        <p:nvSpPr>
          <p:cNvPr id="8" name="Text 5"/>
          <p:cNvSpPr/>
          <p:nvPr/>
        </p:nvSpPr>
        <p:spPr>
          <a:xfrm>
            <a:off x="1783080" y="2907792"/>
            <a:ext cx="1143000" cy="301752"/>
          </a:xfrm>
          <a:prstGeom prst="rect">
            <a:avLst/>
          </a:prstGeom>
          <a:noFill/>
          <a:ln/>
        </p:spPr>
        <p:txBody>
          <a:bodyPr wrap="square" lIns="0" tIns="0" rIns="0" bIns="0" rtlCol="0" anchor="ctr">
            <a:normAutofit/>
          </a:bodyPr>
          <a:lstStyle/>
          <a:p>
            <a:pPr marL="0" indent="0">
              <a:buNone/>
            </a:pPr>
            <a:r>
              <a:rPr lang="en-US" sz="820" b="1" dirty="0">
                <a:solidFill>
                  <a:srgbClr val="FFFFFF"/>
                </a:solidFill>
              </a:rPr>
              <a:t>CPU cycles saved</a:t>
            </a:r>
            <a:endParaRPr lang="en-US" sz="820" dirty="0"/>
          </a:p>
        </p:txBody>
      </p:sp>
      <p:sp>
        <p:nvSpPr>
          <p:cNvPr id="9" name="Shape 6"/>
          <p:cNvSpPr/>
          <p:nvPr/>
        </p:nvSpPr>
        <p:spPr>
          <a:xfrm>
            <a:off x="3657600" y="2743200"/>
            <a:ext cx="2029968" cy="777240"/>
          </a:xfrm>
          <a:prstGeom prst="roundRect">
            <a:avLst>
              <a:gd name="adj" fmla="val 9412"/>
            </a:avLst>
          </a:prstGeom>
          <a:solidFill>
            <a:srgbClr val="1B2945">
              <a:alpha val="95000"/>
            </a:srgbClr>
          </a:solidFill>
          <a:ln w="12700">
            <a:solidFill>
              <a:srgbClr val="314461">
                <a:alpha val="80000"/>
              </a:srgbClr>
            </a:solidFill>
            <a:prstDash val="solid"/>
          </a:ln>
        </p:spPr>
        <p:txBody>
          <a:bodyPr/>
          <a:lstStyle/>
          <a:p>
            <a:endParaRPr lang="en-US"/>
          </a:p>
        </p:txBody>
      </p:sp>
      <p:sp>
        <p:nvSpPr>
          <p:cNvPr id="10" name="Text 7"/>
          <p:cNvSpPr/>
          <p:nvPr/>
        </p:nvSpPr>
        <p:spPr>
          <a:xfrm>
            <a:off x="3767328" y="2852928"/>
            <a:ext cx="502920" cy="274320"/>
          </a:xfrm>
          <a:prstGeom prst="rect">
            <a:avLst/>
          </a:prstGeom>
          <a:noFill/>
          <a:ln/>
        </p:spPr>
        <p:txBody>
          <a:bodyPr wrap="square" lIns="0" tIns="0" rIns="0" bIns="0" rtlCol="0" anchor="ctr"/>
          <a:lstStyle/>
          <a:p>
            <a:pPr marL="0" indent="0">
              <a:buNone/>
            </a:pPr>
            <a:r>
              <a:rPr lang="en-US" sz="1900" b="1" dirty="0">
                <a:solidFill>
                  <a:srgbClr val="7FBA00"/>
                </a:solidFill>
              </a:rPr>
              <a:t>2</a:t>
            </a:r>
            <a:endParaRPr lang="en-US" sz="1900" dirty="0"/>
          </a:p>
        </p:txBody>
      </p:sp>
      <p:sp>
        <p:nvSpPr>
          <p:cNvPr id="11" name="Text 8"/>
          <p:cNvSpPr/>
          <p:nvPr/>
        </p:nvSpPr>
        <p:spPr>
          <a:xfrm>
            <a:off x="4343400" y="2907792"/>
            <a:ext cx="1143000" cy="301752"/>
          </a:xfrm>
          <a:prstGeom prst="rect">
            <a:avLst/>
          </a:prstGeom>
          <a:noFill/>
          <a:ln/>
        </p:spPr>
        <p:txBody>
          <a:bodyPr wrap="square" lIns="0" tIns="0" rIns="0" bIns="0" rtlCol="0" anchor="ctr">
            <a:normAutofit/>
          </a:bodyPr>
          <a:lstStyle/>
          <a:p>
            <a:pPr marL="0" indent="0">
              <a:buNone/>
            </a:pPr>
            <a:r>
              <a:rPr lang="en-US" sz="820" b="1" dirty="0">
                <a:solidFill>
                  <a:srgbClr val="FFFFFF"/>
                </a:solidFill>
              </a:rPr>
              <a:t>Bytes not allocated</a:t>
            </a:r>
            <a:endParaRPr lang="en-US" sz="820" dirty="0"/>
          </a:p>
        </p:txBody>
      </p:sp>
      <p:sp>
        <p:nvSpPr>
          <p:cNvPr id="12" name="Shape 9"/>
          <p:cNvSpPr/>
          <p:nvPr/>
        </p:nvSpPr>
        <p:spPr>
          <a:xfrm>
            <a:off x="6217920" y="2743200"/>
            <a:ext cx="2029968" cy="777240"/>
          </a:xfrm>
          <a:prstGeom prst="roundRect">
            <a:avLst>
              <a:gd name="adj" fmla="val 9412"/>
            </a:avLst>
          </a:prstGeom>
          <a:solidFill>
            <a:srgbClr val="1B2945">
              <a:alpha val="95000"/>
            </a:srgbClr>
          </a:solidFill>
          <a:ln w="12700">
            <a:solidFill>
              <a:srgbClr val="314461">
                <a:alpha val="80000"/>
              </a:srgbClr>
            </a:solidFill>
            <a:prstDash val="solid"/>
          </a:ln>
        </p:spPr>
        <p:txBody>
          <a:bodyPr/>
          <a:lstStyle/>
          <a:p>
            <a:endParaRPr lang="en-US"/>
          </a:p>
        </p:txBody>
      </p:sp>
      <p:sp>
        <p:nvSpPr>
          <p:cNvPr id="13" name="Text 10"/>
          <p:cNvSpPr/>
          <p:nvPr/>
        </p:nvSpPr>
        <p:spPr>
          <a:xfrm>
            <a:off x="6327648" y="2852928"/>
            <a:ext cx="502920" cy="274320"/>
          </a:xfrm>
          <a:prstGeom prst="rect">
            <a:avLst/>
          </a:prstGeom>
          <a:noFill/>
          <a:ln/>
        </p:spPr>
        <p:txBody>
          <a:bodyPr wrap="square" lIns="0" tIns="0" rIns="0" bIns="0" rtlCol="0" anchor="ctr"/>
          <a:lstStyle/>
          <a:p>
            <a:pPr marL="0" indent="0">
              <a:buNone/>
            </a:pPr>
            <a:r>
              <a:rPr lang="en-US" sz="1900" b="1" dirty="0">
                <a:solidFill>
                  <a:srgbClr val="36C5F0"/>
                </a:solidFill>
              </a:rPr>
              <a:t>3</a:t>
            </a:r>
            <a:endParaRPr lang="en-US" sz="1900" dirty="0"/>
          </a:p>
        </p:txBody>
      </p:sp>
      <p:sp>
        <p:nvSpPr>
          <p:cNvPr id="14" name="Text 11"/>
          <p:cNvSpPr/>
          <p:nvPr/>
        </p:nvSpPr>
        <p:spPr>
          <a:xfrm>
            <a:off x="6903720" y="2907792"/>
            <a:ext cx="1143000" cy="301752"/>
          </a:xfrm>
          <a:prstGeom prst="rect">
            <a:avLst/>
          </a:prstGeom>
          <a:noFill/>
          <a:ln/>
        </p:spPr>
        <p:txBody>
          <a:bodyPr wrap="square" lIns="0" tIns="0" rIns="0" bIns="0" rtlCol="0" anchor="ctr">
            <a:normAutofit/>
          </a:bodyPr>
          <a:lstStyle/>
          <a:p>
            <a:pPr marL="0" indent="0">
              <a:buNone/>
            </a:pPr>
            <a:r>
              <a:rPr lang="en-US" sz="820" b="1" dirty="0">
                <a:solidFill>
                  <a:srgbClr val="FFFFFF"/>
                </a:solidFill>
              </a:rPr>
              <a:t>Requests not wasted</a:t>
            </a:r>
            <a:endParaRPr lang="en-US" sz="820" dirty="0"/>
          </a:p>
        </p:txBody>
      </p:sp>
      <p:sp>
        <p:nvSpPr>
          <p:cNvPr id="15" name="Shape 12"/>
          <p:cNvSpPr/>
          <p:nvPr/>
        </p:nvSpPr>
        <p:spPr>
          <a:xfrm>
            <a:off x="8778240" y="2743200"/>
            <a:ext cx="2029968" cy="777240"/>
          </a:xfrm>
          <a:prstGeom prst="roundRect">
            <a:avLst>
              <a:gd name="adj" fmla="val 9412"/>
            </a:avLst>
          </a:prstGeom>
          <a:solidFill>
            <a:srgbClr val="1B2945">
              <a:alpha val="95000"/>
            </a:srgbClr>
          </a:solidFill>
          <a:ln w="12700">
            <a:solidFill>
              <a:srgbClr val="314461">
                <a:alpha val="80000"/>
              </a:srgbClr>
            </a:solidFill>
            <a:prstDash val="solid"/>
          </a:ln>
        </p:spPr>
        <p:txBody>
          <a:bodyPr/>
          <a:lstStyle/>
          <a:p>
            <a:endParaRPr lang="en-US"/>
          </a:p>
        </p:txBody>
      </p:sp>
      <p:sp>
        <p:nvSpPr>
          <p:cNvPr id="16" name="Text 13"/>
          <p:cNvSpPr/>
          <p:nvPr/>
        </p:nvSpPr>
        <p:spPr>
          <a:xfrm>
            <a:off x="8887968" y="2852928"/>
            <a:ext cx="502920" cy="274320"/>
          </a:xfrm>
          <a:prstGeom prst="rect">
            <a:avLst/>
          </a:prstGeom>
          <a:noFill/>
          <a:ln/>
        </p:spPr>
        <p:txBody>
          <a:bodyPr wrap="square" lIns="0" tIns="0" rIns="0" bIns="0" rtlCol="0" anchor="ctr"/>
          <a:lstStyle/>
          <a:p>
            <a:pPr marL="0" indent="0">
              <a:buNone/>
            </a:pPr>
            <a:r>
              <a:rPr lang="en-US" sz="1900" b="1" dirty="0">
                <a:solidFill>
                  <a:srgbClr val="8661C5"/>
                </a:solidFill>
              </a:rPr>
              <a:t>4</a:t>
            </a:r>
            <a:endParaRPr lang="en-US" sz="1900" dirty="0"/>
          </a:p>
        </p:txBody>
      </p:sp>
      <p:sp>
        <p:nvSpPr>
          <p:cNvPr id="17" name="Text 14"/>
          <p:cNvSpPr/>
          <p:nvPr/>
        </p:nvSpPr>
        <p:spPr>
          <a:xfrm>
            <a:off x="9464040" y="2907792"/>
            <a:ext cx="1143000" cy="301752"/>
          </a:xfrm>
          <a:prstGeom prst="rect">
            <a:avLst/>
          </a:prstGeom>
          <a:noFill/>
          <a:ln/>
        </p:spPr>
        <p:txBody>
          <a:bodyPr wrap="square" lIns="0" tIns="0" rIns="0" bIns="0" rtlCol="0" anchor="ctr">
            <a:normAutofit/>
          </a:bodyPr>
          <a:lstStyle/>
          <a:p>
            <a:pPr marL="0" indent="0">
              <a:buNone/>
            </a:pPr>
            <a:r>
              <a:rPr lang="en-US" sz="820" b="1" dirty="0">
                <a:solidFill>
                  <a:srgbClr val="FFFFFF"/>
                </a:solidFill>
              </a:rPr>
              <a:t>Ideas validated</a:t>
            </a:r>
            <a:endParaRPr lang="en-US" sz="820" dirty="0"/>
          </a:p>
        </p:txBody>
      </p:sp>
      <p:sp>
        <p:nvSpPr>
          <p:cNvPr id="18" name="Text 15"/>
          <p:cNvSpPr/>
          <p:nvPr/>
        </p:nvSpPr>
        <p:spPr>
          <a:xfrm>
            <a:off x="1097280" y="4800600"/>
            <a:ext cx="9966960" cy="384048"/>
          </a:xfrm>
          <a:prstGeom prst="rect">
            <a:avLst/>
          </a:prstGeom>
          <a:noFill/>
          <a:ln/>
        </p:spPr>
        <p:txBody>
          <a:bodyPr wrap="square" rtlCol="0" anchor="ctr"/>
          <a:lstStyle/>
          <a:p>
            <a:pPr marL="0" indent="0" algn="ctr">
              <a:buNone/>
            </a:pPr>
            <a:r>
              <a:rPr lang="en-US" sz="1600" b="1" dirty="0">
                <a:solidFill>
                  <a:srgbClr val="FFFFFF"/>
                </a:solidFill>
              </a:rPr>
              <a:t>Call to action for interns: whenever you build something, ask “how will I know it is efficient?”</a:t>
            </a:r>
            <a:endParaRPr lang="en-US" sz="1600" dirty="0"/>
          </a:p>
        </p:txBody>
      </p:sp>
      <p:sp>
        <p:nvSpPr>
          <p:cNvPr id="19" name="Text 16"/>
          <p:cNvSpPr/>
          <p:nvPr/>
        </p:nvSpPr>
        <p:spPr>
          <a:xfrm>
            <a:off x="5212080" y="5623560"/>
            <a:ext cx="1828800" cy="320040"/>
          </a:xfrm>
          <a:prstGeom prst="rect">
            <a:avLst/>
          </a:prstGeom>
          <a:noFill/>
          <a:ln/>
        </p:spPr>
        <p:txBody>
          <a:bodyPr wrap="square" rtlCol="0" anchor="ctr"/>
          <a:lstStyle/>
          <a:p>
            <a:pPr marL="0" indent="0" algn="ctr">
              <a:buNone/>
            </a:pPr>
            <a:r>
              <a:rPr lang="en-US" sz="1800" b="1" dirty="0">
                <a:solidFill>
                  <a:srgbClr val="FFFFFF"/>
                </a:solidFill>
              </a:rPr>
              <a:t>Thank you</a:t>
            </a:r>
            <a:endParaRPr lang="en-US" sz="1800" dirty="0"/>
          </a:p>
        </p:txBody>
      </p:sp>
      <p:sp>
        <p:nvSpPr>
          <p:cNvPr id="25" name="Slide Number Placeholder 0"/>
          <p:cNvSpPr>
            <a:spLocks noGrp="1"/>
          </p:cNvSpPr>
          <p:nvPr>
            <p:ph type="sldNum" sz="quarter" idx="4294967295"/>
          </p:nvPr>
        </p:nvSpPr>
        <p:spPr>
          <a:xfrm>
            <a:off x="112471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FB7D8"/>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240</TotalTime>
  <Words>4114</Words>
  <Application>Microsoft Office PowerPoint</Application>
  <PresentationFormat>Widescreen</PresentationFormat>
  <Paragraphs>238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in the age of intelligent cloud</dc:title>
  <dc:subject>Performance in the age of intelligent cloud</dc:subject>
  <dc:creator>Faik Hakan Bilgen</dc:creator>
  <cp:lastModifiedBy>Faik Hakan Bilgen</cp:lastModifiedBy>
  <cp:revision>6</cp:revision>
  <dcterms:created xsi:type="dcterms:W3CDTF">2026-07-13T15:46:18Z</dcterms:created>
  <dcterms:modified xsi:type="dcterms:W3CDTF">2026-07-16T13:36:36Z</dcterms:modified>
</cp:coreProperties>
</file>